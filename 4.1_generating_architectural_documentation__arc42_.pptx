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600200" y="1082278"/>
            <a:ext cx="59436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AI-Assisted Software Engineering 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1600200" y="2539603"/>
            <a:ext cx="594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Knowledge Graph-Centric Approach to Modernization and Development 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1828800" y="3596878"/>
            <a:ext cx="54864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Transforming software systems through intelligent knowledge graphs, AI-powered analysis, and automated development workflows </a:t>
            </a:r>
            <a:endParaRPr lang="en-US" sz="1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98280" y="1241227"/>
            <a:ext cx="67474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spc="3" kern="0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98280" y="1698427"/>
            <a:ext cx="6747439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375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Foundational Architecture </a:t>
            </a:r>
            <a:endParaRPr lang="en-US" sz="3375" dirty="0"/>
          </a:p>
        </p:txBody>
      </p:sp>
      <p:sp>
        <p:nvSpPr>
          <p:cNvPr id="6" name="Text 3"/>
          <p:cNvSpPr/>
          <p:nvPr/>
        </p:nvSpPr>
        <p:spPr>
          <a:xfrm>
            <a:off x="1198280" y="2462808"/>
            <a:ext cx="67474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Source Code to a Queryable Knowledge Graph 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1371600" y="3205758"/>
            <a:ext cx="640080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Exploring the evolution of software engineering towards AI-assisted development, where codebases become dynamic, queryable knowledge bases that serve as digital twins of software systems for automated analysis, reasoning, and generation capabilities. </a:t>
            </a:r>
            <a:endParaRPr lang="en-US" sz="104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864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50267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1.1 Principles of Software Intelligence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8600" y="571500"/>
            <a:ext cx="5026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Codebase as a Knowledge Graph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8058150" y="410766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2000250"/>
            <a:ext cx="3571875" cy="2857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6300" y="1000125"/>
            <a:ext cx="4229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Ontology Components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86300" y="1314450"/>
            <a:ext cx="422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structured representation of all entities, relationships, and dependencies within a software codebase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4686300" y="1828800"/>
            <a:ext cx="4229100" cy="1343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4686300" y="1828800"/>
            <a:ext cx="28575" cy="13430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2028825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86350" y="2000250"/>
            <a:ext cx="11250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Nodes (Entities)</a:t>
            </a:r>
            <a:endParaRPr lang="en-US" sz="1046" dirty="0"/>
          </a:p>
        </p:txBody>
      </p:sp>
      <p:sp>
        <p:nvSpPr>
          <p:cNvPr id="13" name="Text 8"/>
          <p:cNvSpPr/>
          <p:nvPr/>
        </p:nvSpPr>
        <p:spPr>
          <a:xfrm>
            <a:off x="4857750" y="2286000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Fundamental building blocks representing every component of the software system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4857750" y="2718197"/>
            <a:ext cx="503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</a:t>
            </a:r>
            <a:endParaRPr lang="en-US" sz="732" dirty="0"/>
          </a:p>
        </p:txBody>
      </p:sp>
      <p:sp>
        <p:nvSpPr>
          <p:cNvPr id="15" name="Text 10"/>
          <p:cNvSpPr/>
          <p:nvPr/>
        </p:nvSpPr>
        <p:spPr>
          <a:xfrm>
            <a:off x="5361329" y="2718197"/>
            <a:ext cx="33108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File, Directory, Class, Interface, Function, Method, Variable, Parameter, </a:t>
            </a:r>
            <a:endParaRPr lang="en-US" sz="732" dirty="0"/>
          </a:p>
        </p:txBody>
      </p:sp>
      <p:sp>
        <p:nvSpPr>
          <p:cNvPr id="16" name="Text 11"/>
          <p:cNvSpPr/>
          <p:nvPr/>
        </p:nvSpPr>
        <p:spPr>
          <a:xfrm>
            <a:off x="4857750" y="2861072"/>
            <a:ext cx="9649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Module, Component </a:t>
            </a:r>
            <a:endParaRPr lang="en-US" sz="732" dirty="0"/>
          </a:p>
        </p:txBody>
      </p:sp>
      <p:sp>
        <p:nvSpPr>
          <p:cNvPr id="17" name="Shape 12"/>
          <p:cNvSpPr/>
          <p:nvPr/>
        </p:nvSpPr>
        <p:spPr>
          <a:xfrm>
            <a:off x="4686300" y="3343275"/>
            <a:ext cx="4229100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4686300" y="3343275"/>
            <a:ext cx="28575" cy="117157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543300"/>
            <a:ext cx="125016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68491" y="3514725"/>
            <a:ext cx="15167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Edges (Relationships)</a:t>
            </a:r>
            <a:endParaRPr lang="en-US" sz="1046" dirty="0"/>
          </a:p>
        </p:txBody>
      </p:sp>
      <p:sp>
        <p:nvSpPr>
          <p:cNvPr id="21" name="Text 15"/>
          <p:cNvSpPr/>
          <p:nvPr/>
        </p:nvSpPr>
        <p:spPr>
          <a:xfrm>
            <a:off x="4857750" y="3800475"/>
            <a:ext cx="3886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Semantic connections defining structure and behavior between nodes</a:t>
            </a:r>
            <a:endParaRPr lang="en-US" sz="837" dirty="0"/>
          </a:p>
        </p:txBody>
      </p:sp>
      <p:sp>
        <p:nvSpPr>
          <p:cNvPr id="22" name="Text 16"/>
          <p:cNvSpPr/>
          <p:nvPr/>
        </p:nvSpPr>
        <p:spPr>
          <a:xfrm>
            <a:off x="4857750" y="4061222"/>
            <a:ext cx="503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</a:t>
            </a:r>
            <a:endParaRPr lang="en-US" sz="732" dirty="0"/>
          </a:p>
        </p:txBody>
      </p:sp>
      <p:sp>
        <p:nvSpPr>
          <p:cNvPr id="23" name="Text 17"/>
          <p:cNvSpPr/>
          <p:nvPr/>
        </p:nvSpPr>
        <p:spPr>
          <a:xfrm>
            <a:off x="5361329" y="4061222"/>
            <a:ext cx="3181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IMPORTS, EXPORTS, CALLS, IMPLEMENTS, EXTENDS, HAS_METHOD, </a:t>
            </a:r>
            <a:endParaRPr lang="en-US" sz="732" dirty="0"/>
          </a:p>
        </p:txBody>
      </p:sp>
      <p:sp>
        <p:nvSpPr>
          <p:cNvPr id="24" name="Text 18"/>
          <p:cNvSpPr/>
          <p:nvPr/>
        </p:nvSpPr>
        <p:spPr>
          <a:xfrm>
            <a:off x="4857750" y="4204097"/>
            <a:ext cx="6472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DEPENDS_ON </a:t>
            </a:r>
            <a:endParaRPr lang="en-US" sz="732" dirty="0"/>
          </a:p>
        </p:txBody>
      </p:sp>
      <p:sp>
        <p:nvSpPr>
          <p:cNvPr id="25" name="Shape 19"/>
          <p:cNvSpPr/>
          <p:nvPr/>
        </p:nvSpPr>
        <p:spPr>
          <a:xfrm>
            <a:off x="4686300" y="4686300"/>
            <a:ext cx="4229100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686300" y="4686300"/>
            <a:ext cx="28575" cy="117157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4886325"/>
            <a:ext cx="142875" cy="1428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86350" y="4857750"/>
            <a:ext cx="16077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Properties (Attributes)</a:t>
            </a:r>
            <a:endParaRPr lang="en-US" sz="1046" dirty="0"/>
          </a:p>
        </p:txBody>
      </p:sp>
      <p:sp>
        <p:nvSpPr>
          <p:cNvPr id="29" name="Text 22"/>
          <p:cNvSpPr/>
          <p:nvPr/>
        </p:nvSpPr>
        <p:spPr>
          <a:xfrm>
            <a:off x="4857750" y="5143500"/>
            <a:ext cx="3886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Key-value pairs enriching nodes and edges with critical metadata</a:t>
            </a:r>
            <a:endParaRPr lang="en-US" sz="837" dirty="0"/>
          </a:p>
        </p:txBody>
      </p:sp>
      <p:sp>
        <p:nvSpPr>
          <p:cNvPr id="30" name="Text 23"/>
          <p:cNvSpPr/>
          <p:nvPr/>
        </p:nvSpPr>
        <p:spPr>
          <a:xfrm>
            <a:off x="4857750" y="5404247"/>
            <a:ext cx="503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</a:t>
            </a:r>
            <a:endParaRPr lang="en-US" sz="732" dirty="0"/>
          </a:p>
        </p:txBody>
      </p:sp>
      <p:sp>
        <p:nvSpPr>
          <p:cNvPr id="31" name="Text 24"/>
          <p:cNvSpPr/>
          <p:nvPr/>
        </p:nvSpPr>
        <p:spPr>
          <a:xfrm>
            <a:off x="5361329" y="5404247"/>
            <a:ext cx="28070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code_snippet, cyclomatic_complexity, author, commit_hash, </a:t>
            </a:r>
            <a:endParaRPr lang="en-US" sz="732" dirty="0"/>
          </a:p>
        </p:txBody>
      </p:sp>
      <p:sp>
        <p:nvSpPr>
          <p:cNvPr id="32" name="Text 25"/>
          <p:cNvSpPr/>
          <p:nvPr/>
        </p:nvSpPr>
        <p:spPr>
          <a:xfrm>
            <a:off x="4857750" y="5547122"/>
            <a:ext cx="13247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access_modifier, embedding 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44834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1.2 The Integrated AI-Powered Toolchain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448342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Four-Layer Architecture for Code Intelligence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1268016"/>
            <a:ext cx="3214688" cy="25003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57725" y="828675"/>
            <a:ext cx="43148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4657725" y="828675"/>
            <a:ext cx="28575" cy="65722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9" name="Shape 5"/>
          <p:cNvSpPr/>
          <p:nvPr/>
        </p:nvSpPr>
        <p:spPr>
          <a:xfrm>
            <a:off x="4600575" y="77152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0" name="Text 6"/>
          <p:cNvSpPr/>
          <p:nvPr/>
        </p:nvSpPr>
        <p:spPr>
          <a:xfrm>
            <a:off x="4600575" y="7715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28" dirty="0"/>
          </a:p>
        </p:txBody>
      </p:sp>
      <p:sp>
        <p:nvSpPr>
          <p:cNvPr id="11" name="Text 7"/>
          <p:cNvSpPr/>
          <p:nvPr/>
        </p:nvSpPr>
        <p:spPr>
          <a:xfrm>
            <a:off x="4743450" y="91440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Fact Extraction &amp; Orchestration</a:t>
            </a:r>
            <a:endParaRPr lang="en-US" sz="837" dirty="0"/>
          </a:p>
        </p:txBody>
      </p:sp>
      <p:sp>
        <p:nvSpPr>
          <p:cNvPr id="12" name="Text 8"/>
          <p:cNvSpPr/>
          <p:nvPr/>
        </p:nvSpPr>
        <p:spPr>
          <a:xfrm>
            <a:off x="4743450" y="1114425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AI-driven workflow using hybrid approach: AST + LLM analysis</a:t>
            </a:r>
            <a:endParaRPr lang="en-US" sz="732" dirty="0"/>
          </a:p>
        </p:txBody>
      </p:sp>
      <p:sp>
        <p:nvSpPr>
          <p:cNvPr id="13" name="Text 9"/>
          <p:cNvSpPr/>
          <p:nvPr/>
        </p:nvSpPr>
        <p:spPr>
          <a:xfrm>
            <a:off x="4743450" y="1284089"/>
            <a:ext cx="2191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Tech:</a:t>
            </a:r>
            <a:endParaRPr lang="en-US" sz="628" dirty="0"/>
          </a:p>
        </p:txBody>
      </p:sp>
      <p:sp>
        <p:nvSpPr>
          <p:cNvPr id="14" name="Text 10"/>
          <p:cNvSpPr/>
          <p:nvPr/>
        </p:nvSpPr>
        <p:spPr>
          <a:xfrm>
            <a:off x="4962590" y="1284089"/>
            <a:ext cx="18575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LangChain, crewAI, MCP, CodeGraph Analyzer</a:t>
            </a:r>
            <a:endParaRPr lang="en-US" sz="628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917" y="1546622"/>
            <a:ext cx="96441" cy="1285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57725" y="1735931"/>
            <a:ext cx="43148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4657725" y="1735931"/>
            <a:ext cx="28575" cy="65722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18" name="Shape 13"/>
          <p:cNvSpPr/>
          <p:nvPr/>
        </p:nvSpPr>
        <p:spPr>
          <a:xfrm>
            <a:off x="4600575" y="1678781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9" name="Text 14"/>
          <p:cNvSpPr/>
          <p:nvPr/>
        </p:nvSpPr>
        <p:spPr>
          <a:xfrm>
            <a:off x="4600575" y="16787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628" dirty="0"/>
          </a:p>
        </p:txBody>
      </p:sp>
      <p:sp>
        <p:nvSpPr>
          <p:cNvPr id="20" name="Text 15"/>
          <p:cNvSpPr/>
          <p:nvPr/>
        </p:nvSpPr>
        <p:spPr>
          <a:xfrm>
            <a:off x="4743450" y="1821656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Graph Database</a:t>
            </a:r>
            <a:endParaRPr lang="en-US" sz="837" dirty="0"/>
          </a:p>
        </p:txBody>
      </p:sp>
      <p:sp>
        <p:nvSpPr>
          <p:cNvPr id="21" name="Text 16"/>
          <p:cNvSpPr/>
          <p:nvPr/>
        </p:nvSpPr>
        <p:spPr>
          <a:xfrm>
            <a:off x="4743450" y="2021681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Central repository storing extracted facts and relationships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4743450" y="2191345"/>
            <a:ext cx="2191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Tech:</a:t>
            </a:r>
            <a:endParaRPr lang="en-US" sz="628" dirty="0"/>
          </a:p>
        </p:txBody>
      </p:sp>
      <p:sp>
        <p:nvSpPr>
          <p:cNvPr id="23" name="Text 18"/>
          <p:cNvSpPr/>
          <p:nvPr/>
        </p:nvSpPr>
        <p:spPr>
          <a:xfrm>
            <a:off x="4962590" y="2191345"/>
            <a:ext cx="12472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Neo4j, Cypher query language</a:t>
            </a:r>
            <a:endParaRPr lang="en-US" sz="628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917" y="2453878"/>
            <a:ext cx="96441" cy="1285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657725" y="2643188"/>
            <a:ext cx="43148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657725" y="2643188"/>
            <a:ext cx="28575" cy="65722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27" name="Shape 21"/>
          <p:cNvSpPr/>
          <p:nvPr/>
        </p:nvSpPr>
        <p:spPr>
          <a:xfrm>
            <a:off x="4600575" y="2586038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8" name="Text 22"/>
          <p:cNvSpPr/>
          <p:nvPr/>
        </p:nvSpPr>
        <p:spPr>
          <a:xfrm>
            <a:off x="4600575" y="25860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628" dirty="0"/>
          </a:p>
        </p:txBody>
      </p:sp>
      <p:sp>
        <p:nvSpPr>
          <p:cNvPr id="29" name="Text 23"/>
          <p:cNvSpPr/>
          <p:nvPr/>
        </p:nvSpPr>
        <p:spPr>
          <a:xfrm>
            <a:off x="4743450" y="2728913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AI/LLM Integration Layer</a:t>
            </a:r>
            <a:endParaRPr lang="en-US" sz="837" dirty="0"/>
          </a:p>
        </p:txBody>
      </p:sp>
      <p:sp>
        <p:nvSpPr>
          <p:cNvPr id="30" name="Text 24"/>
          <p:cNvSpPr/>
          <p:nvPr/>
        </p:nvSpPr>
        <p:spPr>
          <a:xfrm>
            <a:off x="4743450" y="2928938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Reasoning engine translating natural language to Cypher queries</a:t>
            </a:r>
            <a:endParaRPr lang="en-US" sz="732" dirty="0"/>
          </a:p>
        </p:txBody>
      </p:sp>
      <p:sp>
        <p:nvSpPr>
          <p:cNvPr id="31" name="Text 25"/>
          <p:cNvSpPr/>
          <p:nvPr/>
        </p:nvSpPr>
        <p:spPr>
          <a:xfrm>
            <a:off x="4743450" y="3098602"/>
            <a:ext cx="2191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Tech:</a:t>
            </a:r>
            <a:endParaRPr lang="en-US" sz="628" dirty="0"/>
          </a:p>
        </p:txBody>
      </p:sp>
      <p:sp>
        <p:nvSpPr>
          <p:cNvPr id="32" name="Text 26"/>
          <p:cNvSpPr/>
          <p:nvPr/>
        </p:nvSpPr>
        <p:spPr>
          <a:xfrm>
            <a:off x="4962590" y="3098602"/>
            <a:ext cx="15122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GPT-4, Claude, GraphCypherQAChain</a:t>
            </a:r>
            <a:endParaRPr lang="en-US" sz="628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917" y="3361134"/>
            <a:ext cx="96441" cy="12858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4657725" y="3550444"/>
            <a:ext cx="43148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8"/>
          <p:cNvSpPr/>
          <p:nvPr/>
        </p:nvSpPr>
        <p:spPr>
          <a:xfrm>
            <a:off x="4657725" y="3550444"/>
            <a:ext cx="28575" cy="65722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36" name="Shape 29"/>
          <p:cNvSpPr/>
          <p:nvPr/>
        </p:nvSpPr>
        <p:spPr>
          <a:xfrm>
            <a:off x="4600575" y="3493294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7" name="Text 30"/>
          <p:cNvSpPr/>
          <p:nvPr/>
        </p:nvSpPr>
        <p:spPr>
          <a:xfrm>
            <a:off x="4600575" y="34932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628" dirty="0"/>
          </a:p>
        </p:txBody>
      </p:sp>
      <p:sp>
        <p:nvSpPr>
          <p:cNvPr id="38" name="Text 31"/>
          <p:cNvSpPr/>
          <p:nvPr/>
        </p:nvSpPr>
        <p:spPr>
          <a:xfrm>
            <a:off x="4743450" y="3636169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Artifact Generation &amp; Workflow Automation</a:t>
            </a:r>
            <a:endParaRPr lang="en-US" sz="837" dirty="0"/>
          </a:p>
        </p:txBody>
      </p:sp>
      <p:sp>
        <p:nvSpPr>
          <p:cNvPr id="39" name="Text 32"/>
          <p:cNvSpPr/>
          <p:nvPr/>
        </p:nvSpPr>
        <p:spPr>
          <a:xfrm>
            <a:off x="4743450" y="3836194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 layer translating insights into development artifacts</a:t>
            </a:r>
            <a:endParaRPr lang="en-US" sz="732" dirty="0"/>
          </a:p>
        </p:txBody>
      </p:sp>
      <p:sp>
        <p:nvSpPr>
          <p:cNvPr id="40" name="Text 33"/>
          <p:cNvSpPr/>
          <p:nvPr/>
        </p:nvSpPr>
        <p:spPr>
          <a:xfrm>
            <a:off x="4743450" y="4005858"/>
            <a:ext cx="2191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Tech:</a:t>
            </a:r>
            <a:endParaRPr lang="en-US" sz="628" dirty="0"/>
          </a:p>
        </p:txBody>
      </p:sp>
      <p:sp>
        <p:nvSpPr>
          <p:cNvPr id="41" name="Text 34"/>
          <p:cNvSpPr/>
          <p:nvPr/>
        </p:nvSpPr>
        <p:spPr>
          <a:xfrm>
            <a:off x="4962590" y="4005858"/>
            <a:ext cx="13676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docToolchain, Jira REST API, arc42</a:t>
            </a:r>
            <a:endParaRPr lang="en-US" sz="62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0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416237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1.3 The Role of Generative AI and RAG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41623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Graph RAG Workflow for Software Engineering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1678781"/>
            <a:ext cx="3214688" cy="2500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7725" y="828675"/>
            <a:ext cx="4314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Graph RAG Workflow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57725" y="1114425"/>
            <a:ext cx="4314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Connecting LLMs to Code Knowledge Graphs for accurate, context-aware responses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4657725" y="1571625"/>
            <a:ext cx="4314825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4657725" y="1571625"/>
            <a:ext cx="28575" cy="51435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Shape 7"/>
          <p:cNvSpPr/>
          <p:nvPr/>
        </p:nvSpPr>
        <p:spPr>
          <a:xfrm>
            <a:off x="4600575" y="151447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2" name="Text 8"/>
          <p:cNvSpPr/>
          <p:nvPr/>
        </p:nvSpPr>
        <p:spPr>
          <a:xfrm>
            <a:off x="4600575" y="15144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28" dirty="0"/>
          </a:p>
        </p:txBody>
      </p:sp>
      <p:sp>
        <p:nvSpPr>
          <p:cNvPr id="13" name="Text 9"/>
          <p:cNvSpPr/>
          <p:nvPr/>
        </p:nvSpPr>
        <p:spPr>
          <a:xfrm>
            <a:off x="4743450" y="165735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Query</a:t>
            </a:r>
            <a:endParaRPr lang="en-US" sz="837" dirty="0"/>
          </a:p>
        </p:txBody>
      </p:sp>
      <p:sp>
        <p:nvSpPr>
          <p:cNvPr id="14" name="Text 10"/>
          <p:cNvSpPr/>
          <p:nvPr/>
        </p:nvSpPr>
        <p:spPr>
          <a:xfrm>
            <a:off x="4743450" y="1857375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Developer poses natural language question about codebase</a:t>
            </a:r>
            <a:endParaRPr lang="en-US" sz="732" dirty="0"/>
          </a:p>
        </p:txBody>
      </p:sp>
      <p:sp>
        <p:nvSpPr>
          <p:cNvPr id="15" name="Shape 11"/>
          <p:cNvSpPr/>
          <p:nvPr/>
        </p:nvSpPr>
        <p:spPr>
          <a:xfrm>
            <a:off x="4657725" y="2171700"/>
            <a:ext cx="4314825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657725" y="2171700"/>
            <a:ext cx="28575" cy="51435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7" name="Shape 13"/>
          <p:cNvSpPr/>
          <p:nvPr/>
        </p:nvSpPr>
        <p:spPr>
          <a:xfrm>
            <a:off x="4600575" y="2114550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8" name="Text 14"/>
          <p:cNvSpPr/>
          <p:nvPr/>
        </p:nvSpPr>
        <p:spPr>
          <a:xfrm>
            <a:off x="4600575" y="21145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628" dirty="0"/>
          </a:p>
        </p:txBody>
      </p:sp>
      <p:sp>
        <p:nvSpPr>
          <p:cNvPr id="19" name="Text 15"/>
          <p:cNvSpPr/>
          <p:nvPr/>
        </p:nvSpPr>
        <p:spPr>
          <a:xfrm>
            <a:off x="4743450" y="225742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Text-to-Cypher Translation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4743450" y="245745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LLM translates query into precise Cypher query using schema context</a:t>
            </a:r>
            <a:endParaRPr lang="en-US" sz="732" dirty="0"/>
          </a:p>
        </p:txBody>
      </p:sp>
      <p:sp>
        <p:nvSpPr>
          <p:cNvPr id="21" name="Shape 17"/>
          <p:cNvSpPr/>
          <p:nvPr/>
        </p:nvSpPr>
        <p:spPr>
          <a:xfrm>
            <a:off x="4657725" y="2771775"/>
            <a:ext cx="4314825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4657725" y="2771775"/>
            <a:ext cx="28575" cy="514350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23" name="Shape 19"/>
          <p:cNvSpPr/>
          <p:nvPr/>
        </p:nvSpPr>
        <p:spPr>
          <a:xfrm>
            <a:off x="4600575" y="271462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4" name="Text 20"/>
          <p:cNvSpPr/>
          <p:nvPr/>
        </p:nvSpPr>
        <p:spPr>
          <a:xfrm>
            <a:off x="4600575" y="27146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628" dirty="0"/>
          </a:p>
        </p:txBody>
      </p:sp>
      <p:sp>
        <p:nvSpPr>
          <p:cNvPr id="25" name="Text 21"/>
          <p:cNvSpPr/>
          <p:nvPr/>
        </p:nvSpPr>
        <p:spPr>
          <a:xfrm>
            <a:off x="4743450" y="285750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Graph Query Execution</a:t>
            </a:r>
            <a:endParaRPr lang="en-US" sz="837" dirty="0"/>
          </a:p>
        </p:txBody>
      </p:sp>
      <p:sp>
        <p:nvSpPr>
          <p:cNvPr id="26" name="Text 22"/>
          <p:cNvSpPr/>
          <p:nvPr/>
        </p:nvSpPr>
        <p:spPr>
          <a:xfrm>
            <a:off x="4743450" y="3057525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Cypher query executed against Neo4j to retrieve relevant subgraph</a:t>
            </a:r>
            <a:endParaRPr lang="en-US" sz="732" dirty="0"/>
          </a:p>
        </p:txBody>
      </p:sp>
      <p:sp>
        <p:nvSpPr>
          <p:cNvPr id="27" name="Shape 23"/>
          <p:cNvSpPr/>
          <p:nvPr/>
        </p:nvSpPr>
        <p:spPr>
          <a:xfrm>
            <a:off x="4657725" y="3371850"/>
            <a:ext cx="4314825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4657725" y="3371850"/>
            <a:ext cx="28575" cy="51435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29" name="Shape 25"/>
          <p:cNvSpPr/>
          <p:nvPr/>
        </p:nvSpPr>
        <p:spPr>
          <a:xfrm>
            <a:off x="4600575" y="3314700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0" name="Text 26"/>
          <p:cNvSpPr/>
          <p:nvPr/>
        </p:nvSpPr>
        <p:spPr>
          <a:xfrm>
            <a:off x="4600575" y="33147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628" dirty="0"/>
          </a:p>
        </p:txBody>
      </p:sp>
      <p:sp>
        <p:nvSpPr>
          <p:cNvPr id="31" name="Text 27"/>
          <p:cNvSpPr/>
          <p:nvPr/>
        </p:nvSpPr>
        <p:spPr>
          <a:xfrm>
            <a:off x="4743450" y="345757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Augmentation Step</a:t>
            </a:r>
            <a:endParaRPr lang="en-US" sz="837" dirty="0"/>
          </a:p>
        </p:txBody>
      </p:sp>
      <p:sp>
        <p:nvSpPr>
          <p:cNvPr id="32" name="Text 28"/>
          <p:cNvSpPr/>
          <p:nvPr/>
        </p:nvSpPr>
        <p:spPr>
          <a:xfrm>
            <a:off x="4743450" y="365760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Subgraph serialized and prepended to original query as context</a:t>
            </a:r>
            <a:endParaRPr lang="en-US" sz="732" dirty="0"/>
          </a:p>
        </p:txBody>
      </p:sp>
      <p:sp>
        <p:nvSpPr>
          <p:cNvPr id="33" name="Shape 29"/>
          <p:cNvSpPr/>
          <p:nvPr/>
        </p:nvSpPr>
        <p:spPr>
          <a:xfrm>
            <a:off x="4657725" y="3971925"/>
            <a:ext cx="4314825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4657725" y="3971925"/>
            <a:ext cx="28575" cy="514350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35" name="Shape 31"/>
          <p:cNvSpPr/>
          <p:nvPr/>
        </p:nvSpPr>
        <p:spPr>
          <a:xfrm>
            <a:off x="4600575" y="391477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6" name="Text 32"/>
          <p:cNvSpPr/>
          <p:nvPr/>
        </p:nvSpPr>
        <p:spPr>
          <a:xfrm>
            <a:off x="4600575" y="39147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628" dirty="0"/>
          </a:p>
        </p:txBody>
      </p:sp>
      <p:sp>
        <p:nvSpPr>
          <p:cNvPr id="37" name="Text 33"/>
          <p:cNvSpPr/>
          <p:nvPr/>
        </p:nvSpPr>
        <p:spPr>
          <a:xfrm>
            <a:off x="4743450" y="405765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Generation Step</a:t>
            </a:r>
            <a:endParaRPr lang="en-US" sz="837" dirty="0"/>
          </a:p>
        </p:txBody>
      </p:sp>
      <p:sp>
        <p:nvSpPr>
          <p:cNvPr id="38" name="Text 34"/>
          <p:cNvSpPr/>
          <p:nvPr/>
        </p:nvSpPr>
        <p:spPr>
          <a:xfrm>
            <a:off x="4743450" y="4257675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LLM generates accurate answer using structured factual context</a:t>
            </a:r>
            <a:endParaRPr lang="en-US" sz="732" dirty="0"/>
          </a:p>
        </p:txBody>
      </p:sp>
      <p:sp>
        <p:nvSpPr>
          <p:cNvPr id="39" name="Shape 35"/>
          <p:cNvSpPr/>
          <p:nvPr/>
        </p:nvSpPr>
        <p:spPr>
          <a:xfrm>
            <a:off x="4657725" y="4572000"/>
            <a:ext cx="4314825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Shape 36"/>
          <p:cNvSpPr/>
          <p:nvPr/>
        </p:nvSpPr>
        <p:spPr>
          <a:xfrm>
            <a:off x="4657725" y="4572000"/>
            <a:ext cx="28575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7"/>
          <p:cNvSpPr/>
          <p:nvPr/>
        </p:nvSpPr>
        <p:spPr>
          <a:xfrm>
            <a:off x="4743450" y="4661297"/>
            <a:ext cx="5986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Benefit:</a:t>
            </a:r>
            <a:endParaRPr lang="en-US" sz="732" dirty="0"/>
          </a:p>
        </p:txBody>
      </p:sp>
      <p:sp>
        <p:nvSpPr>
          <p:cNvPr id="42" name="Text 38"/>
          <p:cNvSpPr/>
          <p:nvPr/>
        </p:nvSpPr>
        <p:spPr>
          <a:xfrm>
            <a:off x="5342130" y="4661297"/>
            <a:ext cx="3334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Relevance compression - provides dense, structured context instead of </a:t>
            </a:r>
            <a:endParaRPr lang="en-US" sz="732" dirty="0"/>
          </a:p>
        </p:txBody>
      </p:sp>
      <p:sp>
        <p:nvSpPr>
          <p:cNvPr id="43" name="Text 39"/>
          <p:cNvSpPr/>
          <p:nvPr/>
        </p:nvSpPr>
        <p:spPr>
          <a:xfrm>
            <a:off x="4743450" y="4804172"/>
            <a:ext cx="1200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noisy source code chunks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43000" y="973336"/>
            <a:ext cx="6858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spc="3" kern="0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II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430536"/>
            <a:ext cx="68580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375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Case Study: Analyzing Existing Systems </a:t>
            </a:r>
            <a:endParaRPr lang="en-US" sz="3375" dirty="0"/>
          </a:p>
        </p:txBody>
      </p:sp>
      <p:sp>
        <p:nvSpPr>
          <p:cNvPr id="6" name="Text 3"/>
          <p:cNvSpPr/>
          <p:nvPr/>
        </p:nvSpPr>
        <p:spPr>
          <a:xfrm>
            <a:off x="1143000" y="2730698"/>
            <a:ext cx="6858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Modernization 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1371600" y="3473648"/>
            <a:ext cx="640080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Demonstrating the practical application of knowledge graph-centric approaches through reverse engineering, fact extraction, and systematic analysis of legacy systems to identify modernization opportunities and refactoring strategies. </a:t>
            </a:r>
            <a:endParaRPr lang="en-US" sz="10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0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57785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2.1 Phase 1: Reverse Engineering and Fact Extraction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577851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Analyzing Legacy Systems for Modernization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28193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Two-Pronged Approach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2819381" cy="1257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143000"/>
            <a:ext cx="28575" cy="1257300"/>
          </a:xfrm>
          <a:prstGeom prst="rect">
            <a:avLst/>
          </a:prstGeom>
          <a:solidFill>
            <a:srgbClr val="00559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85875"/>
            <a:ext cx="178594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0069" y="1257300"/>
            <a:ext cx="9291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Static Analysis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285750" y="1543050"/>
            <a:ext cx="25907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Parse source code to generate Abstract Syntax Tree (AST)</a:t>
            </a:r>
            <a:endParaRPr lang="en-US" sz="732" dirty="0"/>
          </a:p>
        </p:txBody>
      </p:sp>
      <p:sp>
        <p:nvSpPr>
          <p:cNvPr id="12" name="Text 8"/>
          <p:cNvSpPr/>
          <p:nvPr/>
        </p:nvSpPr>
        <p:spPr>
          <a:xfrm>
            <a:off x="285750" y="1885950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Declared relationships</a:t>
            </a:r>
            <a:endParaRPr lang="en-US" sz="628" dirty="0"/>
          </a:p>
        </p:txBody>
      </p:sp>
      <p:sp>
        <p:nvSpPr>
          <p:cNvPr id="13" name="Text 9"/>
          <p:cNvSpPr/>
          <p:nvPr/>
        </p:nvSpPr>
        <p:spPr>
          <a:xfrm>
            <a:off x="285750" y="2028825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Compile-time architecture</a:t>
            </a:r>
            <a:endParaRPr lang="en-US" sz="628" dirty="0"/>
          </a:p>
        </p:txBody>
      </p:sp>
      <p:sp>
        <p:nvSpPr>
          <p:cNvPr id="14" name="Text 10"/>
          <p:cNvSpPr/>
          <p:nvPr/>
        </p:nvSpPr>
        <p:spPr>
          <a:xfrm>
            <a:off x="285750" y="2171700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Code structure analysis</a:t>
            </a:r>
            <a:endParaRPr lang="en-US" sz="628" dirty="0"/>
          </a:p>
        </p:txBody>
      </p:sp>
      <p:sp>
        <p:nvSpPr>
          <p:cNvPr id="15" name="Shape 11"/>
          <p:cNvSpPr/>
          <p:nvPr/>
        </p:nvSpPr>
        <p:spPr>
          <a:xfrm>
            <a:off x="171450" y="2514600"/>
            <a:ext cx="2819381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171450" y="2514600"/>
            <a:ext cx="28575" cy="11144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657475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350" y="2628900"/>
            <a:ext cx="11258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Analysis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285750" y="2914650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LLMs analyze runtime logs and behavior</a:t>
            </a:r>
            <a:endParaRPr lang="en-US" sz="732" dirty="0"/>
          </a:p>
        </p:txBody>
      </p:sp>
      <p:sp>
        <p:nvSpPr>
          <p:cNvPr id="20" name="Text 15"/>
          <p:cNvSpPr/>
          <p:nvPr/>
        </p:nvSpPr>
        <p:spPr>
          <a:xfrm>
            <a:off x="285750" y="3114675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Operational dependencies</a:t>
            </a:r>
            <a:endParaRPr lang="en-US" sz="628" dirty="0"/>
          </a:p>
        </p:txBody>
      </p:sp>
      <p:sp>
        <p:nvSpPr>
          <p:cNvPr id="21" name="Text 16"/>
          <p:cNvSpPr/>
          <p:nvPr/>
        </p:nvSpPr>
        <p:spPr>
          <a:xfrm>
            <a:off x="285750" y="3257550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Real-world usage patterns</a:t>
            </a:r>
            <a:endParaRPr lang="en-US" sz="628" dirty="0"/>
          </a:p>
        </p:txBody>
      </p:sp>
      <p:sp>
        <p:nvSpPr>
          <p:cNvPr id="22" name="Text 17"/>
          <p:cNvSpPr/>
          <p:nvPr/>
        </p:nvSpPr>
        <p:spPr>
          <a:xfrm>
            <a:off x="285750" y="3400425"/>
            <a:ext cx="25907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Hidden runtime relationships</a:t>
            </a:r>
            <a:endParaRPr lang="en-US" sz="628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410" y="1943100"/>
            <a:ext cx="2143125" cy="14287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31698" y="3486150"/>
            <a:ext cx="108054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Hybrid Approach</a:t>
            </a:r>
            <a:endParaRPr lang="en-US" sz="942" dirty="0"/>
          </a:p>
        </p:txBody>
      </p:sp>
      <p:sp>
        <p:nvSpPr>
          <p:cNvPr id="25" name="Text 19"/>
          <p:cNvSpPr/>
          <p:nvPr/>
        </p:nvSpPr>
        <p:spPr>
          <a:xfrm>
            <a:off x="4031698" y="3743325"/>
            <a:ext cx="10805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AST + LLM Analysis</a:t>
            </a:r>
            <a:endParaRPr lang="en-US" sz="732" dirty="0"/>
          </a:p>
        </p:txBody>
      </p:sp>
      <p:sp>
        <p:nvSpPr>
          <p:cNvPr id="26" name="Shape 20"/>
          <p:cNvSpPr/>
          <p:nvPr/>
        </p:nvSpPr>
        <p:spPr>
          <a:xfrm>
            <a:off x="4031698" y="3943350"/>
            <a:ext cx="1080548" cy="17145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7" name="Text 21"/>
          <p:cNvSpPr/>
          <p:nvPr/>
        </p:nvSpPr>
        <p:spPr>
          <a:xfrm>
            <a:off x="4031698" y="3943350"/>
            <a:ext cx="1080548" cy="17145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60% → 95% Accuracy </a:t>
            </a:r>
            <a:endParaRPr lang="en-US" sz="628" dirty="0"/>
          </a:p>
        </p:txBody>
      </p:sp>
      <p:sp>
        <p:nvSpPr>
          <p:cNvPr id="28" name="Text 22"/>
          <p:cNvSpPr/>
          <p:nvPr/>
        </p:nvSpPr>
        <p:spPr>
          <a:xfrm>
            <a:off x="6153141" y="828675"/>
            <a:ext cx="28193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Language-Specific Parsing</a:t>
            </a:r>
            <a:endParaRPr lang="en-US" sz="1046" dirty="0"/>
          </a:p>
        </p:txBody>
      </p:sp>
      <p:sp>
        <p:nvSpPr>
          <p:cNvPr id="29" name="Shape 23"/>
          <p:cNvSpPr/>
          <p:nvPr/>
        </p:nvSpPr>
        <p:spPr>
          <a:xfrm>
            <a:off x="6153141" y="1143000"/>
            <a:ext cx="2819381" cy="1343025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267441" y="1257300"/>
            <a:ext cx="25907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COBOL</a:t>
            </a:r>
            <a:endParaRPr lang="en-US" sz="942" dirty="0"/>
          </a:p>
        </p:txBody>
      </p:sp>
      <p:sp>
        <p:nvSpPr>
          <p:cNvPr id="31" name="Text 25"/>
          <p:cNvSpPr/>
          <p:nvPr/>
        </p:nvSpPr>
        <p:spPr>
          <a:xfrm>
            <a:off x="6267441" y="151447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PROGRAM-ID extraction</a:t>
            </a:r>
            <a:endParaRPr lang="en-US" sz="732" dirty="0"/>
          </a:p>
        </p:txBody>
      </p:sp>
      <p:sp>
        <p:nvSpPr>
          <p:cNvPr id="32" name="Text 26"/>
          <p:cNvSpPr/>
          <p:nvPr/>
        </p:nvSpPr>
        <p:spPr>
          <a:xfrm>
            <a:off x="6267441" y="168592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COPYBOOK dependencies</a:t>
            </a:r>
            <a:endParaRPr lang="en-US" sz="732" dirty="0"/>
          </a:p>
        </p:txBody>
      </p:sp>
      <p:sp>
        <p:nvSpPr>
          <p:cNvPr id="33" name="Text 27"/>
          <p:cNvSpPr/>
          <p:nvPr/>
        </p:nvSpPr>
        <p:spPr>
          <a:xfrm>
            <a:off x="6267441" y="185737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CALL statement mapping</a:t>
            </a:r>
            <a:endParaRPr lang="en-US" sz="732" dirty="0"/>
          </a:p>
        </p:txBody>
      </p:sp>
      <p:sp>
        <p:nvSpPr>
          <p:cNvPr id="34" name="Text 28"/>
          <p:cNvSpPr/>
          <p:nvPr/>
        </p:nvSpPr>
        <p:spPr>
          <a:xfrm>
            <a:off x="6267441" y="202882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Business rule slicing</a:t>
            </a:r>
            <a:endParaRPr lang="en-US" sz="732" dirty="0"/>
          </a:p>
        </p:txBody>
      </p:sp>
      <p:sp>
        <p:nvSpPr>
          <p:cNvPr id="35" name="Text 29"/>
          <p:cNvSpPr/>
          <p:nvPr/>
        </p:nvSpPr>
        <p:spPr>
          <a:xfrm>
            <a:off x="6267441" y="2227064"/>
            <a:ext cx="32928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Impact:</a:t>
            </a:r>
            <a:endParaRPr lang="en-US" sz="628" dirty="0"/>
          </a:p>
        </p:txBody>
      </p:sp>
      <p:sp>
        <p:nvSpPr>
          <p:cNvPr id="36" name="Text 30"/>
          <p:cNvSpPr/>
          <p:nvPr/>
        </p:nvSpPr>
        <p:spPr>
          <a:xfrm>
            <a:off x="6596723" y="2227064"/>
            <a:ext cx="12308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 weeks → 2 weeks (10K lines) </a:t>
            </a:r>
            <a:endParaRPr lang="en-US" sz="628" dirty="0"/>
          </a:p>
        </p:txBody>
      </p:sp>
      <p:sp>
        <p:nvSpPr>
          <p:cNvPr id="37" name="Shape 31"/>
          <p:cNvSpPr/>
          <p:nvPr/>
        </p:nvSpPr>
        <p:spPr>
          <a:xfrm>
            <a:off x="6153141" y="2571750"/>
            <a:ext cx="2819381" cy="1343025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267441" y="2686050"/>
            <a:ext cx="25907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C++</a:t>
            </a:r>
            <a:endParaRPr lang="en-US" sz="942" dirty="0"/>
          </a:p>
        </p:txBody>
      </p:sp>
      <p:sp>
        <p:nvSpPr>
          <p:cNvPr id="39" name="Text 33"/>
          <p:cNvSpPr/>
          <p:nvPr/>
        </p:nvSpPr>
        <p:spPr>
          <a:xfrm>
            <a:off x="6267441" y="294322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Template instantiation</a:t>
            </a:r>
            <a:endParaRPr lang="en-US" sz="732" dirty="0"/>
          </a:p>
        </p:txBody>
      </p:sp>
      <p:sp>
        <p:nvSpPr>
          <p:cNvPr id="40" name="Text 34"/>
          <p:cNvSpPr/>
          <p:nvPr/>
        </p:nvSpPr>
        <p:spPr>
          <a:xfrm>
            <a:off x="6267441" y="311467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Preprocessor handling</a:t>
            </a:r>
            <a:endParaRPr lang="en-US" sz="732" dirty="0"/>
          </a:p>
        </p:txBody>
      </p:sp>
      <p:sp>
        <p:nvSpPr>
          <p:cNvPr id="41" name="Text 35"/>
          <p:cNvSpPr/>
          <p:nvPr/>
        </p:nvSpPr>
        <p:spPr>
          <a:xfrm>
            <a:off x="6267441" y="328612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Pointer dependency tracking</a:t>
            </a:r>
            <a:endParaRPr lang="en-US" sz="732" dirty="0"/>
          </a:p>
        </p:txBody>
      </p:sp>
      <p:sp>
        <p:nvSpPr>
          <p:cNvPr id="42" name="Text 36"/>
          <p:cNvSpPr/>
          <p:nvPr/>
        </p:nvSpPr>
        <p:spPr>
          <a:xfrm>
            <a:off x="6267441" y="345757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Complex grammar parsing</a:t>
            </a:r>
            <a:endParaRPr lang="en-US" sz="732" dirty="0"/>
          </a:p>
        </p:txBody>
      </p:sp>
      <p:sp>
        <p:nvSpPr>
          <p:cNvPr id="43" name="Text 37"/>
          <p:cNvSpPr/>
          <p:nvPr/>
        </p:nvSpPr>
        <p:spPr>
          <a:xfrm>
            <a:off x="6267441" y="3655814"/>
            <a:ext cx="2429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Tools:</a:t>
            </a:r>
            <a:endParaRPr lang="en-US" sz="628" dirty="0"/>
          </a:p>
        </p:txBody>
      </p:sp>
      <p:sp>
        <p:nvSpPr>
          <p:cNvPr id="44" name="Text 38"/>
          <p:cNvSpPr/>
          <p:nvPr/>
        </p:nvSpPr>
        <p:spPr>
          <a:xfrm>
            <a:off x="6510412" y="3655814"/>
            <a:ext cx="13006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Columbus, CodeGraph Analyzer </a:t>
            </a:r>
            <a:endParaRPr lang="en-US" sz="628" dirty="0"/>
          </a:p>
        </p:txBody>
      </p:sp>
      <p:sp>
        <p:nvSpPr>
          <p:cNvPr id="45" name="Shape 39"/>
          <p:cNvSpPr/>
          <p:nvPr/>
        </p:nvSpPr>
        <p:spPr>
          <a:xfrm>
            <a:off x="6153141" y="4000500"/>
            <a:ext cx="2819381" cy="1171575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267441" y="4114800"/>
            <a:ext cx="25907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Java/.NET</a:t>
            </a:r>
            <a:endParaRPr lang="en-US" sz="942" dirty="0"/>
          </a:p>
        </p:txBody>
      </p:sp>
      <p:sp>
        <p:nvSpPr>
          <p:cNvPr id="47" name="Text 41"/>
          <p:cNvSpPr/>
          <p:nvPr/>
        </p:nvSpPr>
        <p:spPr>
          <a:xfrm>
            <a:off x="6267441" y="437197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Bytecode analysis</a:t>
            </a:r>
            <a:endParaRPr lang="en-US" sz="732" dirty="0"/>
          </a:p>
        </p:txBody>
      </p:sp>
      <p:sp>
        <p:nvSpPr>
          <p:cNvPr id="48" name="Text 42"/>
          <p:cNvSpPr/>
          <p:nvPr/>
        </p:nvSpPr>
        <p:spPr>
          <a:xfrm>
            <a:off x="6267441" y="454342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Runtime instrumentation</a:t>
            </a:r>
            <a:endParaRPr lang="en-US" sz="732" dirty="0"/>
          </a:p>
        </p:txBody>
      </p:sp>
      <p:sp>
        <p:nvSpPr>
          <p:cNvPr id="49" name="Text 43"/>
          <p:cNvSpPr/>
          <p:nvPr/>
        </p:nvSpPr>
        <p:spPr>
          <a:xfrm>
            <a:off x="6267441" y="471487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Reflection handling</a:t>
            </a:r>
            <a:endParaRPr lang="en-US" sz="732" dirty="0"/>
          </a:p>
        </p:txBody>
      </p:sp>
      <p:sp>
        <p:nvSpPr>
          <p:cNvPr id="50" name="Text 44"/>
          <p:cNvSpPr/>
          <p:nvPr/>
        </p:nvSpPr>
        <p:spPr>
          <a:xfrm>
            <a:off x="6267441" y="4886325"/>
            <a:ext cx="25907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Framework integration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864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657490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2.2 Phase 2: Knowledge Graph Construction and Enrichment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65749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Raw Facts to Semantic Knowledge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2121694"/>
            <a:ext cx="3214688" cy="2500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7725" y="828675"/>
            <a:ext cx="4314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Two-Step Construction Process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57725" y="1114425"/>
            <a:ext cx="43148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Transforming extracted facts into a rich, queryable knowledge graph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4657725" y="1457325"/>
            <a:ext cx="228600" cy="228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0" name="Text 6"/>
          <p:cNvSpPr/>
          <p:nvPr/>
        </p:nvSpPr>
        <p:spPr>
          <a:xfrm>
            <a:off x="4657725" y="14573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11" name="Shape 7"/>
          <p:cNvSpPr/>
          <p:nvPr/>
        </p:nvSpPr>
        <p:spPr>
          <a:xfrm>
            <a:off x="5000625" y="1457325"/>
            <a:ext cx="3971925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5000625" y="1457325"/>
            <a:ext cx="28575" cy="128587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13" name="Text 9"/>
          <p:cNvSpPr/>
          <p:nvPr/>
        </p:nvSpPr>
        <p:spPr>
          <a:xfrm>
            <a:off x="5114925" y="1571625"/>
            <a:ext cx="37433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Ingestion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5114925" y="1828800"/>
            <a:ext cx="3743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 extracted facts into (subject, predicate, object) triples</a:t>
            </a:r>
            <a:endParaRPr lang="en-US" sz="732" dirty="0"/>
          </a:p>
        </p:txBody>
      </p:sp>
      <p:sp>
        <p:nvSpPr>
          <p:cNvPr id="15" name="Shape 11"/>
          <p:cNvSpPr/>
          <p:nvPr/>
        </p:nvSpPr>
        <p:spPr>
          <a:xfrm>
            <a:off x="5114925" y="2057400"/>
            <a:ext cx="3743325" cy="4000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12"/>
          <p:cNvSpPr/>
          <p:nvPr/>
        </p:nvSpPr>
        <p:spPr>
          <a:xfrm>
            <a:off x="5114925" y="2057400"/>
            <a:ext cx="28575" cy="4000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3"/>
          <p:cNvSpPr/>
          <p:nvPr/>
        </p:nvSpPr>
        <p:spPr>
          <a:xfrm>
            <a:off x="5200650" y="2152055"/>
            <a:ext cx="200630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Example: FunctionA() inside FunctionB()</a:t>
            </a:r>
            <a:endParaRPr lang="en-US" sz="628" dirty="0"/>
          </a:p>
        </p:txBody>
      </p:sp>
      <p:sp>
        <p:nvSpPr>
          <p:cNvPr id="18" name="Text 14"/>
          <p:cNvSpPr/>
          <p:nvPr/>
        </p:nvSpPr>
        <p:spPr>
          <a:xfrm>
            <a:off x="5200650" y="2266355"/>
            <a:ext cx="159475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→ (FunctionB, CALLS, FunctionA) </a:t>
            </a:r>
            <a:endParaRPr lang="en-US" sz="628" dirty="0"/>
          </a:p>
        </p:txBody>
      </p:sp>
      <p:sp>
        <p:nvSpPr>
          <p:cNvPr id="19" name="Text 15"/>
          <p:cNvSpPr/>
          <p:nvPr/>
        </p:nvSpPr>
        <p:spPr>
          <a:xfrm>
            <a:off x="5114925" y="2512814"/>
            <a:ext cx="3339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</a:t>
            </a:r>
            <a:endParaRPr lang="en-US" sz="628" dirty="0"/>
          </a:p>
        </p:txBody>
      </p:sp>
      <p:sp>
        <p:nvSpPr>
          <p:cNvPr id="20" name="Text 16"/>
          <p:cNvSpPr/>
          <p:nvPr/>
        </p:nvSpPr>
        <p:spPr>
          <a:xfrm>
            <a:off x="5448923" y="2512814"/>
            <a:ext cx="15964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Structural "skeleton" in Neo4j database </a:t>
            </a:r>
            <a:endParaRPr lang="en-US" sz="628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844" y="2957513"/>
            <a:ext cx="128588" cy="17145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57725" y="3343275"/>
            <a:ext cx="228600" cy="228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3" name="Text 18"/>
          <p:cNvSpPr/>
          <p:nvPr/>
        </p:nvSpPr>
        <p:spPr>
          <a:xfrm>
            <a:off x="4657725" y="3343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24" name="Shape 19"/>
          <p:cNvSpPr/>
          <p:nvPr/>
        </p:nvSpPr>
        <p:spPr>
          <a:xfrm>
            <a:off x="5000625" y="3343275"/>
            <a:ext cx="3971925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5000625" y="3343275"/>
            <a:ext cx="28575" cy="1285875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26" name="Text 21"/>
          <p:cNvSpPr/>
          <p:nvPr/>
        </p:nvSpPr>
        <p:spPr>
          <a:xfrm>
            <a:off x="5114925" y="3457575"/>
            <a:ext cx="37433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Semantic Enrichment</a:t>
            </a:r>
            <a:endParaRPr lang="en-US" sz="942" dirty="0"/>
          </a:p>
        </p:txBody>
      </p:sp>
      <p:sp>
        <p:nvSpPr>
          <p:cNvPr id="27" name="Text 22"/>
          <p:cNvSpPr/>
          <p:nvPr/>
        </p:nvSpPr>
        <p:spPr>
          <a:xfrm>
            <a:off x="5114925" y="3714750"/>
            <a:ext cx="37433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human-understandable semantics using RAG pattern</a:t>
            </a:r>
            <a:endParaRPr lang="en-US" sz="732" dirty="0"/>
          </a:p>
        </p:txBody>
      </p:sp>
      <p:sp>
        <p:nvSpPr>
          <p:cNvPr id="28" name="Text 23"/>
          <p:cNvSpPr/>
          <p:nvPr/>
        </p:nvSpPr>
        <p:spPr>
          <a:xfrm>
            <a:off x="5229225" y="4027289"/>
            <a:ext cx="3484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Process:</a:t>
            </a:r>
            <a:endParaRPr lang="en-US" sz="628" dirty="0"/>
          </a:p>
        </p:txBody>
      </p:sp>
      <p:sp>
        <p:nvSpPr>
          <p:cNvPr id="29" name="Text 24"/>
          <p:cNvSpPr/>
          <p:nvPr/>
        </p:nvSpPr>
        <p:spPr>
          <a:xfrm>
            <a:off x="5577706" y="4027289"/>
            <a:ext cx="29854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Iterate through nodes → Retrieve code snippets → LLM summarization → </a:t>
            </a:r>
            <a:endParaRPr lang="en-US" sz="628" dirty="0"/>
          </a:p>
        </p:txBody>
      </p:sp>
      <p:sp>
        <p:nvSpPr>
          <p:cNvPr id="30" name="Text 25"/>
          <p:cNvSpPr/>
          <p:nvPr/>
        </p:nvSpPr>
        <p:spPr>
          <a:xfrm>
            <a:off x="5229225" y="4141589"/>
            <a:ext cx="1098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 as summary property </a:t>
            </a:r>
            <a:endParaRPr lang="en-US" sz="628" dirty="0"/>
          </a:p>
        </p:txBody>
      </p:sp>
      <p:sp>
        <p:nvSpPr>
          <p:cNvPr id="31" name="Text 26"/>
          <p:cNvSpPr/>
          <p:nvPr/>
        </p:nvSpPr>
        <p:spPr>
          <a:xfrm>
            <a:off x="5114925" y="4398764"/>
            <a:ext cx="3339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</a:t>
            </a:r>
            <a:endParaRPr lang="en-US" sz="628" dirty="0"/>
          </a:p>
        </p:txBody>
      </p:sp>
      <p:sp>
        <p:nvSpPr>
          <p:cNvPr id="32" name="Text 27"/>
          <p:cNvSpPr/>
          <p:nvPr/>
        </p:nvSpPr>
        <p:spPr>
          <a:xfrm>
            <a:off x="5448923" y="4398764"/>
            <a:ext cx="26217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"Multi-modal" KG with structural + natural language descriptions </a:t>
            </a:r>
            <a:endParaRPr lang="en-US" sz="628" dirty="0"/>
          </a:p>
        </p:txBody>
      </p:sp>
      <p:sp>
        <p:nvSpPr>
          <p:cNvPr id="33" name="Shape 28"/>
          <p:cNvSpPr/>
          <p:nvPr/>
        </p:nvSpPr>
        <p:spPr>
          <a:xfrm>
            <a:off x="4657725" y="4800600"/>
            <a:ext cx="4314825" cy="111442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Shape 29"/>
          <p:cNvSpPr/>
          <p:nvPr/>
        </p:nvSpPr>
        <p:spPr>
          <a:xfrm>
            <a:off x="4657725" y="4800600"/>
            <a:ext cx="28575" cy="11144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0"/>
          <p:cNvSpPr/>
          <p:nvPr/>
        </p:nvSpPr>
        <p:spPr>
          <a:xfrm>
            <a:off x="4772025" y="4914900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837" dirty="0"/>
          </a:p>
        </p:txBody>
      </p:sp>
      <p:sp>
        <p:nvSpPr>
          <p:cNvPr id="36" name="Text 31"/>
          <p:cNvSpPr/>
          <p:nvPr/>
        </p:nvSpPr>
        <p:spPr>
          <a:xfrm>
            <a:off x="4772025" y="514350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1D4E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Machine-readable structural relationships</a:t>
            </a:r>
            <a:endParaRPr lang="en-US" sz="732" dirty="0"/>
          </a:p>
        </p:txBody>
      </p:sp>
      <p:sp>
        <p:nvSpPr>
          <p:cNvPr id="37" name="Text 32"/>
          <p:cNvSpPr/>
          <p:nvPr/>
        </p:nvSpPr>
        <p:spPr>
          <a:xfrm>
            <a:off x="4772025" y="53149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1D4E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Human-readable natural language descriptions</a:t>
            </a:r>
            <a:endParaRPr lang="en-US" sz="732" dirty="0"/>
          </a:p>
        </p:txBody>
      </p:sp>
      <p:sp>
        <p:nvSpPr>
          <p:cNvPr id="38" name="Text 33"/>
          <p:cNvSpPr/>
          <p:nvPr/>
        </p:nvSpPr>
        <p:spPr>
          <a:xfrm>
            <a:off x="4772025" y="548640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1D4E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Accessible to wider range of stakeholders</a:t>
            </a:r>
            <a:endParaRPr lang="en-US" sz="732" dirty="0"/>
          </a:p>
        </p:txBody>
      </p:sp>
      <p:sp>
        <p:nvSpPr>
          <p:cNvPr id="39" name="Text 34"/>
          <p:cNvSpPr/>
          <p:nvPr/>
        </p:nvSpPr>
        <p:spPr>
          <a:xfrm>
            <a:off x="4772025" y="56578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1D4E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Foundation for systematic analysis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56632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2.3 Phase 3: Analysis and Refactoring Identification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56632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Modernization Strategy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Identifying Modernization Candidates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4314825" cy="14466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143000"/>
            <a:ext cx="28575" cy="1446609"/>
          </a:xfrm>
          <a:prstGeom prst="rect">
            <a:avLst/>
          </a:prstGeom>
          <a:solidFill>
            <a:srgbClr val="00559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93019"/>
            <a:ext cx="128588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0063" y="1257300"/>
            <a:ext cx="11901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Low-Hanging Fruit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285750" y="15430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 well-isolated components with high business value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85750" y="1771650"/>
            <a:ext cx="4086225" cy="70365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9"/>
          <p:cNvSpPr/>
          <p:nvPr/>
        </p:nvSpPr>
        <p:spPr>
          <a:xfrm>
            <a:off x="342900" y="1834158"/>
            <a:ext cx="215660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// Find highly-used classes with no outgoing dependencies</a:t>
            </a:r>
            <a:endParaRPr lang="en-US" sz="575" dirty="0"/>
          </a:p>
        </p:txBody>
      </p:sp>
      <p:sp>
        <p:nvSpPr>
          <p:cNvPr id="14" name="Text 10"/>
          <p:cNvSpPr/>
          <p:nvPr/>
        </p:nvSpPr>
        <p:spPr>
          <a:xfrm>
            <a:off x="342900" y="1952030"/>
            <a:ext cx="58165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MATCH (c:Class)</a:t>
            </a:r>
            <a:endParaRPr lang="en-US" sz="575" dirty="0"/>
          </a:p>
        </p:txBody>
      </p:sp>
      <p:sp>
        <p:nvSpPr>
          <p:cNvPr id="15" name="Text 11"/>
          <p:cNvSpPr/>
          <p:nvPr/>
        </p:nvSpPr>
        <p:spPr>
          <a:xfrm>
            <a:off x="342900" y="2069902"/>
            <a:ext cx="14961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WHERE NOT (c)--&gt;() AND size((c)&lt;--()) &gt; 10</a:t>
            </a:r>
            <a:endParaRPr lang="en-US" sz="575" dirty="0"/>
          </a:p>
        </p:txBody>
      </p:sp>
      <p:sp>
        <p:nvSpPr>
          <p:cNvPr id="16" name="Text 12"/>
          <p:cNvSpPr/>
          <p:nvPr/>
        </p:nvSpPr>
        <p:spPr>
          <a:xfrm>
            <a:off x="342900" y="2187773"/>
            <a:ext cx="2249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c.name AS ClassName, size((c)&lt;--()) AS IncomingCalls</a:t>
            </a:r>
            <a:endParaRPr lang="en-US" sz="575" dirty="0"/>
          </a:p>
        </p:txBody>
      </p:sp>
      <p:sp>
        <p:nvSpPr>
          <p:cNvPr id="17" name="Text 13"/>
          <p:cNvSpPr/>
          <p:nvPr/>
        </p:nvSpPr>
        <p:spPr>
          <a:xfrm>
            <a:off x="342900" y="2305645"/>
            <a:ext cx="11339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ORDER BY IncomingCalls DESC </a:t>
            </a:r>
            <a:endParaRPr lang="en-US" sz="575" dirty="0"/>
          </a:p>
        </p:txBody>
      </p:sp>
      <p:sp>
        <p:nvSpPr>
          <p:cNvPr id="18" name="Shape 14"/>
          <p:cNvSpPr/>
          <p:nvPr/>
        </p:nvSpPr>
        <p:spPr>
          <a:xfrm>
            <a:off x="171450" y="2703909"/>
            <a:ext cx="4314825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171450" y="2703909"/>
            <a:ext cx="28575" cy="117157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853928"/>
            <a:ext cx="128588" cy="128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0063" y="2818209"/>
            <a:ext cx="7970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942" dirty="0"/>
          </a:p>
        </p:txBody>
      </p:sp>
      <p:sp>
        <p:nvSpPr>
          <p:cNvPr id="22" name="Text 17"/>
          <p:cNvSpPr/>
          <p:nvPr/>
        </p:nvSpPr>
        <p:spPr>
          <a:xfrm>
            <a:off x="285750" y="3103959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Data-driven vs. intuitive decisions</a:t>
            </a:r>
            <a:endParaRPr lang="en-US" sz="732" dirty="0"/>
          </a:p>
        </p:txBody>
      </p:sp>
      <p:sp>
        <p:nvSpPr>
          <p:cNvPr id="23" name="Text 18"/>
          <p:cNvSpPr/>
          <p:nvPr/>
        </p:nvSpPr>
        <p:spPr>
          <a:xfrm>
            <a:off x="285750" y="3275409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Systematic vs. ad-hoc analysis</a:t>
            </a:r>
            <a:endParaRPr lang="en-US" sz="732" dirty="0"/>
          </a:p>
        </p:txBody>
      </p:sp>
      <p:sp>
        <p:nvSpPr>
          <p:cNvPr id="24" name="Text 19"/>
          <p:cNvSpPr/>
          <p:nvPr/>
        </p:nvSpPr>
        <p:spPr>
          <a:xfrm>
            <a:off x="285750" y="3446859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Automated vs. manual review</a:t>
            </a:r>
            <a:endParaRPr lang="en-US" sz="732" dirty="0"/>
          </a:p>
        </p:txBody>
      </p:sp>
      <p:sp>
        <p:nvSpPr>
          <p:cNvPr id="25" name="Text 20"/>
          <p:cNvSpPr/>
          <p:nvPr/>
        </p:nvSpPr>
        <p:spPr>
          <a:xfrm>
            <a:off x="285750" y="3618309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Objective vs. subjective assessment</a:t>
            </a:r>
            <a:endParaRPr lang="en-US" sz="732" dirty="0"/>
          </a:p>
        </p:txBody>
      </p:sp>
      <p:sp>
        <p:nvSpPr>
          <p:cNvPr id="26" name="Text 21"/>
          <p:cNvSpPr/>
          <p:nvPr/>
        </p:nvSpPr>
        <p:spPr>
          <a:xfrm>
            <a:off x="4657725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Code Smell Detection</a:t>
            </a:r>
            <a:endParaRPr lang="en-US" sz="1046" dirty="0"/>
          </a:p>
        </p:txBody>
      </p:sp>
      <p:sp>
        <p:nvSpPr>
          <p:cNvPr id="27" name="Shape 22"/>
          <p:cNvSpPr/>
          <p:nvPr/>
        </p:nvSpPr>
        <p:spPr>
          <a:xfrm>
            <a:off x="4657725" y="1143000"/>
            <a:ext cx="4314825" cy="942975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43450" y="122872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God Class</a:t>
            </a:r>
            <a:endParaRPr lang="en-US" sz="837" dirty="0"/>
          </a:p>
        </p:txBody>
      </p:sp>
      <p:sp>
        <p:nvSpPr>
          <p:cNvPr id="29" name="Text 24"/>
          <p:cNvSpPr/>
          <p:nvPr/>
        </p:nvSpPr>
        <p:spPr>
          <a:xfrm>
            <a:off x="4743450" y="1457325"/>
            <a:ext cx="4143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 with too much intelligence, many methods/fields, low cohesion</a:t>
            </a:r>
            <a:endParaRPr lang="en-US" sz="628" dirty="0"/>
          </a:p>
        </p:txBody>
      </p:sp>
      <p:sp>
        <p:nvSpPr>
          <p:cNvPr id="30" name="Shape 25"/>
          <p:cNvSpPr/>
          <p:nvPr/>
        </p:nvSpPr>
        <p:spPr>
          <a:xfrm>
            <a:off x="4743450" y="1628775"/>
            <a:ext cx="4143375" cy="3429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1" name="Text 26"/>
          <p:cNvSpPr/>
          <p:nvPr/>
        </p:nvSpPr>
        <p:spPr>
          <a:xfrm>
            <a:off x="4800600" y="1689497"/>
            <a:ext cx="14797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MATCH (c:Class) WHERE size((c)--&gt;()) &gt; 20</a:t>
            </a:r>
            <a:endParaRPr lang="en-US" sz="575" dirty="0"/>
          </a:p>
        </p:txBody>
      </p:sp>
      <p:sp>
        <p:nvSpPr>
          <p:cNvPr id="32" name="Text 27"/>
          <p:cNvSpPr/>
          <p:nvPr/>
        </p:nvSpPr>
        <p:spPr>
          <a:xfrm>
            <a:off x="4800600" y="1803797"/>
            <a:ext cx="16926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c.name, size((c)--&gt;()) AS MethodCount </a:t>
            </a:r>
            <a:endParaRPr lang="en-US" sz="575" dirty="0"/>
          </a:p>
        </p:txBody>
      </p:sp>
      <p:sp>
        <p:nvSpPr>
          <p:cNvPr id="33" name="Shape 28"/>
          <p:cNvSpPr/>
          <p:nvPr/>
        </p:nvSpPr>
        <p:spPr>
          <a:xfrm>
            <a:off x="4657725" y="2171700"/>
            <a:ext cx="4314825" cy="1057275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743450" y="225742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Envy</a:t>
            </a:r>
            <a:endParaRPr lang="en-US" sz="837" dirty="0"/>
          </a:p>
        </p:txBody>
      </p:sp>
      <p:sp>
        <p:nvSpPr>
          <p:cNvPr id="35" name="Text 30"/>
          <p:cNvSpPr/>
          <p:nvPr/>
        </p:nvSpPr>
        <p:spPr>
          <a:xfrm>
            <a:off x="4743450" y="2486025"/>
            <a:ext cx="4143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Method more interested in another class than its own</a:t>
            </a:r>
            <a:endParaRPr lang="en-US" sz="628" dirty="0"/>
          </a:p>
        </p:txBody>
      </p:sp>
      <p:sp>
        <p:nvSpPr>
          <p:cNvPr id="36" name="Shape 31"/>
          <p:cNvSpPr/>
          <p:nvPr/>
        </p:nvSpPr>
        <p:spPr>
          <a:xfrm>
            <a:off x="4743450" y="2657475"/>
            <a:ext cx="4143375" cy="4572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7" name="Text 32"/>
          <p:cNvSpPr/>
          <p:nvPr/>
        </p:nvSpPr>
        <p:spPr>
          <a:xfrm>
            <a:off x="4800600" y="2718197"/>
            <a:ext cx="11733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MATCH (m:Method)--&gt;(c1:Class),</a:t>
            </a:r>
            <a:endParaRPr lang="en-US" sz="575" dirty="0"/>
          </a:p>
        </p:txBody>
      </p:sp>
      <p:sp>
        <p:nvSpPr>
          <p:cNvPr id="38" name="Text 33"/>
          <p:cNvSpPr/>
          <p:nvPr/>
        </p:nvSpPr>
        <p:spPr>
          <a:xfrm>
            <a:off x="4800600" y="2832497"/>
            <a:ext cx="13181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(m)--&gt;(other_m:Method)--&gt;(c2:Class)</a:t>
            </a:r>
            <a:endParaRPr lang="en-US" sz="575" dirty="0"/>
          </a:p>
        </p:txBody>
      </p:sp>
      <p:sp>
        <p:nvSpPr>
          <p:cNvPr id="39" name="Text 34"/>
          <p:cNvSpPr/>
          <p:nvPr/>
        </p:nvSpPr>
        <p:spPr>
          <a:xfrm>
            <a:off x="4800600" y="2946797"/>
            <a:ext cx="16910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WHERE c1 &lt;&gt; c2 AND foreign_calls &gt; own_calls </a:t>
            </a:r>
            <a:endParaRPr lang="en-US" sz="575" dirty="0"/>
          </a:p>
        </p:txBody>
      </p:sp>
      <p:sp>
        <p:nvSpPr>
          <p:cNvPr id="40" name="Shape 35"/>
          <p:cNvSpPr/>
          <p:nvPr/>
        </p:nvSpPr>
        <p:spPr>
          <a:xfrm>
            <a:off x="4657725" y="3314700"/>
            <a:ext cx="4314825" cy="1057275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743450" y="340042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Coupling</a:t>
            </a:r>
            <a:endParaRPr lang="en-US" sz="837" dirty="0"/>
          </a:p>
        </p:txBody>
      </p:sp>
      <p:sp>
        <p:nvSpPr>
          <p:cNvPr id="42" name="Text 37"/>
          <p:cNvSpPr/>
          <p:nvPr/>
        </p:nvSpPr>
        <p:spPr>
          <a:xfrm>
            <a:off x="4743450" y="3629025"/>
            <a:ext cx="4143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with excessive dependencies on other modules</a:t>
            </a:r>
            <a:endParaRPr lang="en-US" sz="628" dirty="0"/>
          </a:p>
        </p:txBody>
      </p:sp>
      <p:sp>
        <p:nvSpPr>
          <p:cNvPr id="43" name="Shape 38"/>
          <p:cNvSpPr/>
          <p:nvPr/>
        </p:nvSpPr>
        <p:spPr>
          <a:xfrm>
            <a:off x="4743450" y="3800475"/>
            <a:ext cx="4143375" cy="4572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4" name="Text 39"/>
          <p:cNvSpPr/>
          <p:nvPr/>
        </p:nvSpPr>
        <p:spPr>
          <a:xfrm>
            <a:off x="4800600" y="3861197"/>
            <a:ext cx="129346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MATCH (m:Module)--&gt;(dep:Module)</a:t>
            </a:r>
            <a:endParaRPr lang="en-US" sz="575" dirty="0"/>
          </a:p>
        </p:txBody>
      </p:sp>
      <p:sp>
        <p:nvSpPr>
          <p:cNvPr id="45" name="Text 40"/>
          <p:cNvSpPr/>
          <p:nvPr/>
        </p:nvSpPr>
        <p:spPr>
          <a:xfrm>
            <a:off x="4800600" y="3975497"/>
            <a:ext cx="13851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WITH m, count(dep) AS dependencies</a:t>
            </a:r>
            <a:endParaRPr lang="en-US" sz="575" dirty="0"/>
          </a:p>
        </p:txBody>
      </p:sp>
      <p:sp>
        <p:nvSpPr>
          <p:cNvPr id="46" name="Text 41"/>
          <p:cNvSpPr/>
          <p:nvPr/>
        </p:nvSpPr>
        <p:spPr>
          <a:xfrm>
            <a:off x="4800600" y="4089797"/>
            <a:ext cx="124331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WHERE dependencies &gt; threshold </a:t>
            </a:r>
            <a:endParaRPr lang="en-US" sz="575" dirty="0"/>
          </a:p>
        </p:txBody>
      </p:sp>
      <p:sp>
        <p:nvSpPr>
          <p:cNvPr id="47" name="Shape 42"/>
          <p:cNvSpPr/>
          <p:nvPr/>
        </p:nvSpPr>
        <p:spPr>
          <a:xfrm>
            <a:off x="4657725" y="4457700"/>
            <a:ext cx="4314825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8" name="Shape 43"/>
          <p:cNvSpPr/>
          <p:nvPr/>
        </p:nvSpPr>
        <p:spPr>
          <a:xfrm>
            <a:off x="4657725" y="4457700"/>
            <a:ext cx="28575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4"/>
          <p:cNvSpPr/>
          <p:nvPr/>
        </p:nvSpPr>
        <p:spPr>
          <a:xfrm>
            <a:off x="4743450" y="4546997"/>
            <a:ext cx="8068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Transformation:</a:t>
            </a:r>
            <a:endParaRPr lang="en-US" sz="732" dirty="0"/>
          </a:p>
        </p:txBody>
      </p:sp>
      <p:sp>
        <p:nvSpPr>
          <p:cNvPr id="50" name="Text 45"/>
          <p:cNvSpPr/>
          <p:nvPr/>
        </p:nvSpPr>
        <p:spPr>
          <a:xfrm>
            <a:off x="5550275" y="4546997"/>
            <a:ext cx="32627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manual, subjective architectural review to automated, objective </a:t>
            </a:r>
            <a:endParaRPr lang="en-US" sz="732" dirty="0"/>
          </a:p>
        </p:txBody>
      </p:sp>
      <p:sp>
        <p:nvSpPr>
          <p:cNvPr id="51" name="Text 46"/>
          <p:cNvSpPr/>
          <p:nvPr/>
        </p:nvSpPr>
        <p:spPr>
          <a:xfrm>
            <a:off x="4743450" y="4689872"/>
            <a:ext cx="11485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quality assessment</a:t>
            </a:r>
            <a:endParaRPr lang="en-US" sz="7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43000" y="1216223"/>
            <a:ext cx="6858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spc="3" kern="0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III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673423"/>
            <a:ext cx="68580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375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Case Study: Guiding New Application Development </a:t>
            </a:r>
            <a:endParaRPr lang="en-US" sz="3375" dirty="0"/>
          </a:p>
        </p:txBody>
      </p:sp>
      <p:sp>
        <p:nvSpPr>
          <p:cNvPr id="6" name="Text 3"/>
          <p:cNvSpPr/>
          <p:nvPr/>
        </p:nvSpPr>
        <p:spPr>
          <a:xfrm>
            <a:off x="1371600" y="3230761"/>
            <a:ext cx="640080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Demonstrating how knowledge graph-centric approaches guide the development of new applications through ontology-driven design, continuous CI/CD integration, and automated architectural governance to ensure consistency and quality from the ground up. </a:t>
            </a:r>
            <a:endParaRPr lang="en-US" sz="104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7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50101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3.1 Ontology-Driven Design and Development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50101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Knowledge-Graph-First Approach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Paradigm Inversion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4314825" cy="1171575"/>
          </a:xfrm>
          <a:prstGeom prst="rect">
            <a:avLst/>
          </a:prstGeom>
          <a:solidFill>
            <a:srgbClr val="F3E5F5"/>
          </a:solidFill>
          <a:ln w="198">
            <a:solidFill>
              <a:srgbClr val="00559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5750" y="12573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DC26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❌ Traditional Approach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85750" y="1514475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1️⃣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03634" y="1543050"/>
            <a:ext cx="7156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code first</a:t>
            </a:r>
            <a:endParaRPr lang="en-US" sz="732" dirty="0"/>
          </a:p>
        </p:txBody>
      </p:sp>
      <p:sp>
        <p:nvSpPr>
          <p:cNvPr id="11" name="Text 8"/>
          <p:cNvSpPr/>
          <p:nvPr/>
        </p:nvSpPr>
        <p:spPr>
          <a:xfrm>
            <a:off x="285750" y="1743075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2️⃣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03634" y="1771650"/>
            <a:ext cx="12914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Derive documentation later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285750" y="1971675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3️⃣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03634" y="2000250"/>
            <a:ext cx="163460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architecture afterward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171450" y="2400300"/>
            <a:ext cx="4314825" cy="1171575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5750" y="25146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✅ Knowledge-Graph-First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285750" y="2771775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1️⃣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03634" y="2800350"/>
            <a:ext cx="18272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 domain &amp; architecture ontology</a:t>
            </a:r>
            <a:endParaRPr lang="en-US" sz="732" dirty="0"/>
          </a:p>
        </p:txBody>
      </p:sp>
      <p:sp>
        <p:nvSpPr>
          <p:cNvPr id="19" name="Text 16"/>
          <p:cNvSpPr/>
          <p:nvPr/>
        </p:nvSpPr>
        <p:spPr>
          <a:xfrm>
            <a:off x="285750" y="3000375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2️⃣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03634" y="3028950"/>
            <a:ext cx="11303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 code scaffolds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285750" y="3228975"/>
            <a:ext cx="1607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3️⃣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03634" y="3257550"/>
            <a:ext cx="12929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within blueprint</a:t>
            </a:r>
            <a:endParaRPr lang="en-US" sz="732" dirty="0"/>
          </a:p>
        </p:txBody>
      </p:sp>
      <p:sp>
        <p:nvSpPr>
          <p:cNvPr id="23" name="Shape 20"/>
          <p:cNvSpPr/>
          <p:nvPr/>
        </p:nvSpPr>
        <p:spPr>
          <a:xfrm>
            <a:off x="171450" y="3657600"/>
            <a:ext cx="4314825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Shape 21"/>
          <p:cNvSpPr/>
          <p:nvPr/>
        </p:nvSpPr>
        <p:spPr>
          <a:xfrm>
            <a:off x="171450" y="3657600"/>
            <a:ext cx="28575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257175" y="3746897"/>
            <a:ext cx="342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Result: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600131" y="3746897"/>
            <a:ext cx="35521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Machine-readable blueprint established before any implementation code is 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257175" y="3889772"/>
            <a:ext cx="3361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1E40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written</a:t>
            </a:r>
            <a:endParaRPr lang="en-US" sz="732" dirty="0"/>
          </a:p>
        </p:txBody>
      </p:sp>
      <p:sp>
        <p:nvSpPr>
          <p:cNvPr id="28" name="Text 25"/>
          <p:cNvSpPr/>
          <p:nvPr/>
        </p:nvSpPr>
        <p:spPr>
          <a:xfrm>
            <a:off x="4657725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Development Workflow</a:t>
            </a:r>
            <a:endParaRPr lang="en-US" sz="1046" dirty="0"/>
          </a:p>
        </p:txBody>
      </p:sp>
      <p:sp>
        <p:nvSpPr>
          <p:cNvPr id="29" name="Shape 26"/>
          <p:cNvSpPr/>
          <p:nvPr/>
        </p:nvSpPr>
        <p:spPr>
          <a:xfrm>
            <a:off x="4657725" y="1143000"/>
            <a:ext cx="4314825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657725" y="1143000"/>
            <a:ext cx="28575" cy="13716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31" name="Shape 28"/>
          <p:cNvSpPr/>
          <p:nvPr/>
        </p:nvSpPr>
        <p:spPr>
          <a:xfrm>
            <a:off x="4586288" y="1071563"/>
            <a:ext cx="200025" cy="200025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2" name="Text 29"/>
          <p:cNvSpPr/>
          <p:nvPr/>
        </p:nvSpPr>
        <p:spPr>
          <a:xfrm>
            <a:off x="4586288" y="10715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4772025" y="12573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the Domain and Architecture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4772025" y="1514475"/>
            <a:ext cx="4086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Architects, domain experts, and lead developers collaborate to construct "target state" knowledge graph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4772025" y="185737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Define key entities (Customer, Order)</a:t>
            </a:r>
            <a:endParaRPr lang="en-US" sz="628" dirty="0"/>
          </a:p>
        </p:txBody>
      </p:sp>
      <p:sp>
        <p:nvSpPr>
          <p:cNvPr id="36" name="Text 33"/>
          <p:cNvSpPr/>
          <p:nvPr/>
        </p:nvSpPr>
        <p:spPr>
          <a:xfrm>
            <a:off x="4772025" y="200025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Specify logical modules (AuthenticationService)</a:t>
            </a:r>
            <a:endParaRPr lang="en-US" sz="628" dirty="0"/>
          </a:p>
        </p:txBody>
      </p:sp>
      <p:sp>
        <p:nvSpPr>
          <p:cNvPr id="37" name="Text 34"/>
          <p:cNvSpPr/>
          <p:nvPr/>
        </p:nvSpPr>
        <p:spPr>
          <a:xfrm>
            <a:off x="4772025" y="214312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Establish allowed relationships</a:t>
            </a:r>
            <a:endParaRPr lang="en-US" sz="628" dirty="0"/>
          </a:p>
        </p:txBody>
      </p:sp>
      <p:sp>
        <p:nvSpPr>
          <p:cNvPr id="38" name="Text 35"/>
          <p:cNvSpPr/>
          <p:nvPr/>
        </p:nvSpPr>
        <p:spPr>
          <a:xfrm>
            <a:off x="4772025" y="228600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Create architectural constraints</a:t>
            </a:r>
            <a:endParaRPr lang="en-US" sz="628" dirty="0"/>
          </a:p>
        </p:txBody>
      </p:sp>
      <p:sp>
        <p:nvSpPr>
          <p:cNvPr id="39" name="Shape 36"/>
          <p:cNvSpPr/>
          <p:nvPr/>
        </p:nvSpPr>
        <p:spPr>
          <a:xfrm>
            <a:off x="4657725" y="2628900"/>
            <a:ext cx="4314825" cy="1228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4657725" y="2628900"/>
            <a:ext cx="28575" cy="1228725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41" name="Shape 38"/>
          <p:cNvSpPr/>
          <p:nvPr/>
        </p:nvSpPr>
        <p:spPr>
          <a:xfrm>
            <a:off x="4586288" y="2557463"/>
            <a:ext cx="200025" cy="200025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42" name="Text 39"/>
          <p:cNvSpPr/>
          <p:nvPr/>
        </p:nvSpPr>
        <p:spPr>
          <a:xfrm>
            <a:off x="4586288" y="25574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43" name="Text 40"/>
          <p:cNvSpPr/>
          <p:nvPr/>
        </p:nvSpPr>
        <p:spPr>
          <a:xfrm>
            <a:off x="4772025" y="27432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 Code Scaffolds</a:t>
            </a:r>
            <a:endParaRPr lang="en-US" sz="942" dirty="0"/>
          </a:p>
        </p:txBody>
      </p:sp>
      <p:sp>
        <p:nvSpPr>
          <p:cNvPr id="44" name="Text 41"/>
          <p:cNvSpPr/>
          <p:nvPr/>
        </p:nvSpPr>
        <p:spPr>
          <a:xfrm>
            <a:off x="4772025" y="30003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state ontology programmatically generates initial application scaffolding</a:t>
            </a:r>
            <a:endParaRPr lang="en-US" sz="732" dirty="0"/>
          </a:p>
        </p:txBody>
      </p:sp>
      <p:sp>
        <p:nvSpPr>
          <p:cNvPr id="45" name="Text 42"/>
          <p:cNvSpPr/>
          <p:nvPr/>
        </p:nvSpPr>
        <p:spPr>
          <a:xfrm>
            <a:off x="4772025" y="320040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Class shells and interface definitions</a:t>
            </a:r>
            <a:endParaRPr lang="en-US" sz="628" dirty="0"/>
          </a:p>
        </p:txBody>
      </p:sp>
      <p:sp>
        <p:nvSpPr>
          <p:cNvPr id="46" name="Text 43"/>
          <p:cNvSpPr/>
          <p:nvPr/>
        </p:nvSpPr>
        <p:spPr>
          <a:xfrm>
            <a:off x="4772025" y="334327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API contracts (OpenAPI specifications)</a:t>
            </a:r>
            <a:endParaRPr lang="en-US" sz="628" dirty="0"/>
          </a:p>
        </p:txBody>
      </p:sp>
      <p:sp>
        <p:nvSpPr>
          <p:cNvPr id="47" name="Text 44"/>
          <p:cNvSpPr/>
          <p:nvPr/>
        </p:nvSpPr>
        <p:spPr>
          <a:xfrm>
            <a:off x="4772025" y="348615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Project structures</a:t>
            </a:r>
            <a:endParaRPr lang="en-US" sz="628" dirty="0"/>
          </a:p>
        </p:txBody>
      </p:sp>
      <p:sp>
        <p:nvSpPr>
          <p:cNvPr id="48" name="Text 45"/>
          <p:cNvSpPr/>
          <p:nvPr/>
        </p:nvSpPr>
        <p:spPr>
          <a:xfrm>
            <a:off x="4772025" y="362902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Perfect architectural alignment from start</a:t>
            </a:r>
            <a:endParaRPr lang="en-US" sz="628" dirty="0"/>
          </a:p>
        </p:txBody>
      </p:sp>
      <p:sp>
        <p:nvSpPr>
          <p:cNvPr id="49" name="Shape 46"/>
          <p:cNvSpPr/>
          <p:nvPr/>
        </p:nvSpPr>
        <p:spPr>
          <a:xfrm>
            <a:off x="4657725" y="3971925"/>
            <a:ext cx="4314825" cy="1228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7"/>
          <p:cNvSpPr/>
          <p:nvPr/>
        </p:nvSpPr>
        <p:spPr>
          <a:xfrm>
            <a:off x="4657725" y="3971925"/>
            <a:ext cx="28575" cy="122872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51" name="Shape 48"/>
          <p:cNvSpPr/>
          <p:nvPr/>
        </p:nvSpPr>
        <p:spPr>
          <a:xfrm>
            <a:off x="4586288" y="3900488"/>
            <a:ext cx="200025" cy="200025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2" name="Text 49"/>
          <p:cNvSpPr/>
          <p:nvPr/>
        </p:nvSpPr>
        <p:spPr>
          <a:xfrm>
            <a:off x="4586288" y="39004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32" dirty="0"/>
          </a:p>
        </p:txBody>
      </p:sp>
      <p:sp>
        <p:nvSpPr>
          <p:cNvPr id="53" name="Text 50"/>
          <p:cNvSpPr/>
          <p:nvPr/>
        </p:nvSpPr>
        <p:spPr>
          <a:xfrm>
            <a:off x="4772025" y="4086225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Knowledge-Driven Development</a:t>
            </a:r>
            <a:endParaRPr lang="en-US" sz="942" dirty="0"/>
          </a:p>
        </p:txBody>
      </p:sp>
      <p:sp>
        <p:nvSpPr>
          <p:cNvPr id="54" name="Text 51"/>
          <p:cNvSpPr/>
          <p:nvPr/>
        </p:nvSpPr>
        <p:spPr>
          <a:xfrm>
            <a:off x="4772025" y="434340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analysis and integration maintains live, accurate KG representation</a:t>
            </a:r>
            <a:endParaRPr lang="en-US" sz="732" dirty="0"/>
          </a:p>
        </p:txBody>
      </p:sp>
      <p:sp>
        <p:nvSpPr>
          <p:cNvPr id="55" name="Text 52"/>
          <p:cNvSpPr/>
          <p:nvPr/>
        </p:nvSpPr>
        <p:spPr>
          <a:xfrm>
            <a:off x="4772025" y="454342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Real-time code analysis</a:t>
            </a:r>
            <a:endParaRPr lang="en-US" sz="628" dirty="0"/>
          </a:p>
        </p:txBody>
      </p:sp>
      <p:sp>
        <p:nvSpPr>
          <p:cNvPr id="56" name="Text 53"/>
          <p:cNvSpPr/>
          <p:nvPr/>
        </p:nvSpPr>
        <p:spPr>
          <a:xfrm>
            <a:off x="4772025" y="468630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Automatic KG updates</a:t>
            </a:r>
            <a:endParaRPr lang="en-US" sz="628" dirty="0"/>
          </a:p>
        </p:txBody>
      </p:sp>
      <p:sp>
        <p:nvSpPr>
          <p:cNvPr id="57" name="Text 54"/>
          <p:cNvSpPr/>
          <p:nvPr/>
        </p:nvSpPr>
        <p:spPr>
          <a:xfrm>
            <a:off x="4772025" y="482917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Live architectural validation</a:t>
            </a:r>
            <a:endParaRPr lang="en-US" sz="628" dirty="0"/>
          </a:p>
        </p:txBody>
      </p:sp>
      <p:sp>
        <p:nvSpPr>
          <p:cNvPr id="58" name="Text 55"/>
          <p:cNvSpPr/>
          <p:nvPr/>
        </p:nvSpPr>
        <p:spPr>
          <a:xfrm>
            <a:off x="4772025" y="497205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Continuous compliance checking</a:t>
            </a:r>
            <a:endParaRPr lang="en-US" sz="62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42813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3.2 Continuous KG Integration in CI/CD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42813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Knowledge Graph Maintenance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Pipeline Integration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4314825" cy="108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143000"/>
            <a:ext cx="28575" cy="108585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" y="1085850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3" y="1128713"/>
            <a:ext cx="85725" cy="857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5750" y="12573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Integration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285750" y="15144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Dedicated CI/CD job runs on every commit or pull request</a:t>
            </a:r>
            <a:endParaRPr lang="en-US" sz="732" dirty="0"/>
          </a:p>
        </p:txBody>
      </p:sp>
      <p:sp>
        <p:nvSpPr>
          <p:cNvPr id="13" name="Text 9"/>
          <p:cNvSpPr/>
          <p:nvPr/>
        </p:nvSpPr>
        <p:spPr>
          <a:xfrm>
            <a:off x="285750" y="171450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Triggered automatically on code changes</a:t>
            </a:r>
            <a:endParaRPr lang="en-US" sz="628" dirty="0"/>
          </a:p>
        </p:txBody>
      </p:sp>
      <p:sp>
        <p:nvSpPr>
          <p:cNvPr id="14" name="Text 10"/>
          <p:cNvSpPr/>
          <p:nvPr/>
        </p:nvSpPr>
        <p:spPr>
          <a:xfrm>
            <a:off x="285750" y="185737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Invokes CodeGraph Analyzer</a:t>
            </a:r>
            <a:endParaRPr lang="en-US" sz="628" dirty="0"/>
          </a:p>
        </p:txBody>
      </p:sp>
      <p:sp>
        <p:nvSpPr>
          <p:cNvPr id="15" name="Text 11"/>
          <p:cNvSpPr/>
          <p:nvPr/>
        </p:nvSpPr>
        <p:spPr>
          <a:xfrm>
            <a:off x="285750" y="200025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Integrated into existing workflows</a:t>
            </a:r>
            <a:endParaRPr lang="en-US" sz="628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284" y="2378869"/>
            <a:ext cx="107156" cy="14287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71450" y="2671763"/>
            <a:ext cx="4314825" cy="1228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171450" y="2671763"/>
            <a:ext cx="28575" cy="122872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19" name="Shape 14"/>
          <p:cNvSpPr/>
          <p:nvPr/>
        </p:nvSpPr>
        <p:spPr>
          <a:xfrm>
            <a:off x="114300" y="2614613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3" y="2657475"/>
            <a:ext cx="85725" cy="857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85750" y="2786063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Analysis &amp; Update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285750" y="3043238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Incremental parsing and knowledge graph updates</a:t>
            </a:r>
            <a:endParaRPr lang="en-US" sz="732" dirty="0"/>
          </a:p>
        </p:txBody>
      </p:sp>
      <p:sp>
        <p:nvSpPr>
          <p:cNvPr id="23" name="Text 17"/>
          <p:cNvSpPr/>
          <p:nvPr/>
        </p:nvSpPr>
        <p:spPr>
          <a:xfrm>
            <a:off x="285750" y="3243263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Parse only changed files</a:t>
            </a:r>
            <a:endParaRPr lang="en-US" sz="628" dirty="0"/>
          </a:p>
        </p:txBody>
      </p:sp>
      <p:sp>
        <p:nvSpPr>
          <p:cNvPr id="24" name="Text 18"/>
          <p:cNvSpPr/>
          <p:nvPr/>
        </p:nvSpPr>
        <p:spPr>
          <a:xfrm>
            <a:off x="285750" y="3386138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Extract new/modified facts</a:t>
            </a:r>
            <a:endParaRPr lang="en-US" sz="628" dirty="0"/>
          </a:p>
        </p:txBody>
      </p:sp>
      <p:sp>
        <p:nvSpPr>
          <p:cNvPr id="25" name="Text 19"/>
          <p:cNvSpPr/>
          <p:nvPr/>
        </p:nvSpPr>
        <p:spPr>
          <a:xfrm>
            <a:off x="285750" y="3529013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Update Neo4j database incrementally</a:t>
            </a:r>
            <a:endParaRPr lang="en-US" sz="628" dirty="0"/>
          </a:p>
        </p:txBody>
      </p:sp>
      <p:sp>
        <p:nvSpPr>
          <p:cNvPr id="26" name="Text 20"/>
          <p:cNvSpPr/>
          <p:nvPr/>
        </p:nvSpPr>
        <p:spPr>
          <a:xfrm>
            <a:off x="285750" y="3671888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Maintain real-time isomorphic representation</a:t>
            </a:r>
            <a:endParaRPr lang="en-US" sz="628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284" y="4050506"/>
            <a:ext cx="107156" cy="14287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71450" y="4343400"/>
            <a:ext cx="4314825" cy="108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171450" y="4343400"/>
            <a:ext cx="28575" cy="1085850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30" name="Shape 23"/>
          <p:cNvSpPr/>
          <p:nvPr/>
        </p:nvSpPr>
        <p:spPr>
          <a:xfrm>
            <a:off x="114300" y="4286250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3" y="4329113"/>
            <a:ext cx="85725" cy="857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5750" y="44577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Elimination of Documentation Debt</a:t>
            </a:r>
            <a:endParaRPr lang="en-US" sz="942" dirty="0"/>
          </a:p>
        </p:txBody>
      </p:sp>
      <p:sp>
        <p:nvSpPr>
          <p:cNvPr id="33" name="Text 25"/>
          <p:cNvSpPr/>
          <p:nvPr/>
        </p:nvSpPr>
        <p:spPr>
          <a:xfrm>
            <a:off x="285750" y="47148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KG as single source of truth, never out of sync</a:t>
            </a:r>
            <a:endParaRPr lang="en-US" sz="732" dirty="0"/>
          </a:p>
        </p:txBody>
      </p:sp>
      <p:sp>
        <p:nvSpPr>
          <p:cNvPr id="34" name="Text 26"/>
          <p:cNvSpPr/>
          <p:nvPr/>
        </p:nvSpPr>
        <p:spPr>
          <a:xfrm>
            <a:off x="285750" y="491490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Living representation of code</a:t>
            </a:r>
            <a:endParaRPr lang="en-US" sz="628" dirty="0"/>
          </a:p>
        </p:txBody>
      </p:sp>
      <p:sp>
        <p:nvSpPr>
          <p:cNvPr id="35" name="Text 27"/>
          <p:cNvSpPr/>
          <p:nvPr/>
        </p:nvSpPr>
        <p:spPr>
          <a:xfrm>
            <a:off x="285750" y="505777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Accessible to humans and tools</a:t>
            </a:r>
            <a:endParaRPr lang="en-US" sz="628" dirty="0"/>
          </a:p>
        </p:txBody>
      </p:sp>
      <p:sp>
        <p:nvSpPr>
          <p:cNvPr id="36" name="Text 28"/>
          <p:cNvSpPr/>
          <p:nvPr/>
        </p:nvSpPr>
        <p:spPr>
          <a:xfrm>
            <a:off x="285750" y="520065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Always current architecture view</a:t>
            </a:r>
            <a:endParaRPr lang="en-US" sz="628" dirty="0"/>
          </a:p>
        </p:txBody>
      </p:sp>
      <p:sp>
        <p:nvSpPr>
          <p:cNvPr id="37" name="Text 29"/>
          <p:cNvSpPr/>
          <p:nvPr/>
        </p:nvSpPr>
        <p:spPr>
          <a:xfrm>
            <a:off x="4657725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1046" dirty="0"/>
          </a:p>
        </p:txBody>
      </p:sp>
      <p:sp>
        <p:nvSpPr>
          <p:cNvPr id="38" name="Shape 30"/>
          <p:cNvSpPr/>
          <p:nvPr/>
        </p:nvSpPr>
        <p:spPr>
          <a:xfrm>
            <a:off x="4657725" y="1143000"/>
            <a:ext cx="4314825" cy="828675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1293019"/>
            <a:ext cx="128588" cy="12858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986338" y="1257300"/>
            <a:ext cx="17011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Synchronization</a:t>
            </a:r>
            <a:endParaRPr lang="en-US" sz="942" dirty="0"/>
          </a:p>
        </p:txBody>
      </p:sp>
      <p:sp>
        <p:nvSpPr>
          <p:cNvPr id="41" name="Text 32"/>
          <p:cNvSpPr/>
          <p:nvPr/>
        </p:nvSpPr>
        <p:spPr>
          <a:xfrm>
            <a:off x="4772025" y="1543050"/>
            <a:ext cx="4086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graph remains current with every code change, providing accurate architectural insights</a:t>
            </a:r>
            <a:endParaRPr lang="en-US" sz="732" dirty="0"/>
          </a:p>
        </p:txBody>
      </p:sp>
      <p:sp>
        <p:nvSpPr>
          <p:cNvPr id="42" name="Shape 33"/>
          <p:cNvSpPr/>
          <p:nvPr/>
        </p:nvSpPr>
        <p:spPr>
          <a:xfrm>
            <a:off x="4657725" y="2057400"/>
            <a:ext cx="4314825" cy="685800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025" y="2207419"/>
            <a:ext cx="144661" cy="1285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002411" y="2171700"/>
            <a:ext cx="9527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Efficiency</a:t>
            </a:r>
            <a:endParaRPr lang="en-US" sz="942" dirty="0"/>
          </a:p>
        </p:txBody>
      </p:sp>
      <p:sp>
        <p:nvSpPr>
          <p:cNvPr id="45" name="Text 35"/>
          <p:cNvSpPr/>
          <p:nvPr/>
        </p:nvSpPr>
        <p:spPr>
          <a:xfrm>
            <a:off x="4772025" y="24574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Incremental updates process only changed files, minimizing computational overhead</a:t>
            </a:r>
            <a:endParaRPr lang="en-US" sz="732" dirty="0"/>
          </a:p>
        </p:txBody>
      </p:sp>
      <p:sp>
        <p:nvSpPr>
          <p:cNvPr id="46" name="Shape 36"/>
          <p:cNvSpPr/>
          <p:nvPr/>
        </p:nvSpPr>
        <p:spPr>
          <a:xfrm>
            <a:off x="4657725" y="2828925"/>
            <a:ext cx="4314825" cy="685800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2978944"/>
            <a:ext cx="112514" cy="12858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4970264" y="2943225"/>
            <a:ext cx="14048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Single Source of Truth</a:t>
            </a:r>
            <a:endParaRPr lang="en-US" sz="942" dirty="0"/>
          </a:p>
        </p:txBody>
      </p:sp>
      <p:sp>
        <p:nvSpPr>
          <p:cNvPr id="49" name="Text 38"/>
          <p:cNvSpPr/>
          <p:nvPr/>
        </p:nvSpPr>
        <p:spPr>
          <a:xfrm>
            <a:off x="4772025" y="32289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Eliminates outdated documentation and architectural diagrams permanently</a:t>
            </a:r>
            <a:endParaRPr lang="en-US" sz="732" dirty="0"/>
          </a:p>
        </p:txBody>
      </p:sp>
      <p:sp>
        <p:nvSpPr>
          <p:cNvPr id="50" name="Shape 39"/>
          <p:cNvSpPr/>
          <p:nvPr/>
        </p:nvSpPr>
        <p:spPr>
          <a:xfrm>
            <a:off x="4657725" y="3600450"/>
            <a:ext cx="4314825" cy="111442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1" name="Shape 40"/>
          <p:cNvSpPr/>
          <p:nvPr/>
        </p:nvSpPr>
        <p:spPr>
          <a:xfrm>
            <a:off x="4657725" y="3600450"/>
            <a:ext cx="28575" cy="111442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2" name="Text 41"/>
          <p:cNvSpPr/>
          <p:nvPr/>
        </p:nvSpPr>
        <p:spPr>
          <a:xfrm>
            <a:off x="4772025" y="3714750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Flow</a:t>
            </a:r>
            <a:endParaRPr lang="en-US" sz="837" dirty="0"/>
          </a:p>
        </p:txBody>
      </p:sp>
      <p:sp>
        <p:nvSpPr>
          <p:cNvPr id="53" name="Text 42"/>
          <p:cNvSpPr/>
          <p:nvPr/>
        </p:nvSpPr>
        <p:spPr>
          <a:xfrm>
            <a:off x="4772025" y="3946922"/>
            <a:ext cx="1510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📝 </a:t>
            </a:r>
            <a:endParaRPr lang="en-US" sz="732" dirty="0"/>
          </a:p>
        </p:txBody>
      </p:sp>
      <p:sp>
        <p:nvSpPr>
          <p:cNvPr id="54" name="Text 43"/>
          <p:cNvSpPr/>
          <p:nvPr/>
        </p:nvSpPr>
        <p:spPr>
          <a:xfrm>
            <a:off x="4923048" y="3946922"/>
            <a:ext cx="5660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Commit/PR</a:t>
            </a:r>
            <a:endParaRPr lang="en-US" sz="732" dirty="0"/>
          </a:p>
        </p:txBody>
      </p:sp>
      <p:sp>
        <p:nvSpPr>
          <p:cNvPr id="55" name="Text 44"/>
          <p:cNvSpPr/>
          <p:nvPr/>
        </p:nvSpPr>
        <p:spPr>
          <a:xfrm>
            <a:off x="5489135" y="3946922"/>
            <a:ext cx="8967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Trigger Analysis</a:t>
            </a:r>
            <a:endParaRPr lang="en-US" sz="732" dirty="0"/>
          </a:p>
        </p:txBody>
      </p:sp>
      <p:sp>
        <p:nvSpPr>
          <p:cNvPr id="56" name="Text 45"/>
          <p:cNvSpPr/>
          <p:nvPr/>
        </p:nvSpPr>
        <p:spPr>
          <a:xfrm>
            <a:off x="4772025" y="4118372"/>
            <a:ext cx="1510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🔍 </a:t>
            </a:r>
            <a:endParaRPr lang="en-US" sz="732" dirty="0"/>
          </a:p>
        </p:txBody>
      </p:sp>
      <p:sp>
        <p:nvSpPr>
          <p:cNvPr id="57" name="Text 46"/>
          <p:cNvSpPr/>
          <p:nvPr/>
        </p:nvSpPr>
        <p:spPr>
          <a:xfrm>
            <a:off x="4923048" y="4118372"/>
            <a:ext cx="7311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Parse Changes</a:t>
            </a:r>
            <a:endParaRPr lang="en-US" sz="732" dirty="0"/>
          </a:p>
        </p:txBody>
      </p:sp>
      <p:sp>
        <p:nvSpPr>
          <p:cNvPr id="58" name="Text 47"/>
          <p:cNvSpPr/>
          <p:nvPr/>
        </p:nvSpPr>
        <p:spPr>
          <a:xfrm>
            <a:off x="5654167" y="4118372"/>
            <a:ext cx="7421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Extract Facts</a:t>
            </a:r>
            <a:endParaRPr lang="en-US" sz="732" dirty="0"/>
          </a:p>
        </p:txBody>
      </p:sp>
      <p:sp>
        <p:nvSpPr>
          <p:cNvPr id="59" name="Text 48"/>
          <p:cNvSpPr/>
          <p:nvPr/>
        </p:nvSpPr>
        <p:spPr>
          <a:xfrm>
            <a:off x="4772025" y="4289822"/>
            <a:ext cx="1510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 </a:t>
            </a:r>
            <a:endParaRPr lang="en-US" sz="732" dirty="0"/>
          </a:p>
        </p:txBody>
      </p:sp>
      <p:sp>
        <p:nvSpPr>
          <p:cNvPr id="60" name="Text 49"/>
          <p:cNvSpPr/>
          <p:nvPr/>
        </p:nvSpPr>
        <p:spPr>
          <a:xfrm>
            <a:off x="4923048" y="4289822"/>
            <a:ext cx="5279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 KG</a:t>
            </a:r>
            <a:endParaRPr lang="en-US" sz="732" dirty="0"/>
          </a:p>
        </p:txBody>
      </p:sp>
      <p:sp>
        <p:nvSpPr>
          <p:cNvPr id="61" name="Text 50"/>
          <p:cNvSpPr/>
          <p:nvPr/>
        </p:nvSpPr>
        <p:spPr>
          <a:xfrm>
            <a:off x="5451016" y="4289822"/>
            <a:ext cx="808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Maintain Sync</a:t>
            </a:r>
            <a:endParaRPr lang="en-US" sz="732" dirty="0"/>
          </a:p>
        </p:txBody>
      </p:sp>
      <p:sp>
        <p:nvSpPr>
          <p:cNvPr id="62" name="Text 51"/>
          <p:cNvSpPr/>
          <p:nvPr/>
        </p:nvSpPr>
        <p:spPr>
          <a:xfrm>
            <a:off x="4772025" y="4461272"/>
            <a:ext cx="1510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✅ </a:t>
            </a:r>
            <a:endParaRPr lang="en-US" sz="732" dirty="0"/>
          </a:p>
        </p:txBody>
      </p:sp>
      <p:sp>
        <p:nvSpPr>
          <p:cNvPr id="63" name="Text 52"/>
          <p:cNvSpPr/>
          <p:nvPr/>
        </p:nvSpPr>
        <p:spPr>
          <a:xfrm>
            <a:off x="4923048" y="4461272"/>
            <a:ext cx="4106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</a:t>
            </a:r>
            <a:endParaRPr lang="en-US" sz="732" dirty="0"/>
          </a:p>
        </p:txBody>
      </p:sp>
      <p:sp>
        <p:nvSpPr>
          <p:cNvPr id="64" name="Text 53"/>
          <p:cNvSpPr/>
          <p:nvPr/>
        </p:nvSpPr>
        <p:spPr>
          <a:xfrm>
            <a:off x="5333702" y="4461272"/>
            <a:ext cx="9328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Ready for Merge</a:t>
            </a:r>
            <a:endParaRPr lang="en-US" sz="73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29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45228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3.3 Automated Architectural Governance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45228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Self-Healing Architecture Through KG Validation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Validation Process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4314825" cy="14466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143000"/>
            <a:ext cx="28575" cy="1446609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93019"/>
            <a:ext cx="128588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0063" y="1257300"/>
            <a:ext cx="18385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Architectural Drift Detection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285750" y="15430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CI/CD pipeline executes Cypher queries to detect rule violations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85750" y="1771650"/>
            <a:ext cx="4086225" cy="70365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9"/>
          <p:cNvSpPr/>
          <p:nvPr/>
        </p:nvSpPr>
        <p:spPr>
          <a:xfrm>
            <a:off x="342900" y="1834158"/>
            <a:ext cx="20903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// Check for illegal calls from UI layer to DataAccess layer</a:t>
            </a:r>
            <a:endParaRPr lang="en-US" sz="575" dirty="0"/>
          </a:p>
        </p:txBody>
      </p:sp>
      <p:sp>
        <p:nvSpPr>
          <p:cNvPr id="14" name="Text 10"/>
          <p:cNvSpPr/>
          <p:nvPr/>
        </p:nvSpPr>
        <p:spPr>
          <a:xfrm>
            <a:off x="342900" y="1952030"/>
            <a:ext cx="15992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MATCH (ui_comp:Component {layer:'UI'})--&gt;</a:t>
            </a:r>
            <a:endParaRPr lang="en-US" sz="575" dirty="0"/>
          </a:p>
        </p:txBody>
      </p:sp>
      <p:sp>
        <p:nvSpPr>
          <p:cNvPr id="15" name="Text 11"/>
          <p:cNvSpPr/>
          <p:nvPr/>
        </p:nvSpPr>
        <p:spPr>
          <a:xfrm>
            <a:off x="342900" y="2069902"/>
            <a:ext cx="24544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(db_method:Method)--&gt;(db_comp:Component {layer:'DataAccess'})</a:t>
            </a:r>
            <a:endParaRPr lang="en-US" sz="575" dirty="0"/>
          </a:p>
        </p:txBody>
      </p:sp>
      <p:sp>
        <p:nvSpPr>
          <p:cNvPr id="16" name="Text 12"/>
          <p:cNvSpPr/>
          <p:nvPr/>
        </p:nvSpPr>
        <p:spPr>
          <a:xfrm>
            <a:off x="342900" y="2187773"/>
            <a:ext cx="178152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ui_comp.name AS ViolatingComponent,</a:t>
            </a:r>
            <a:endParaRPr lang="en-US" sz="575" dirty="0"/>
          </a:p>
        </p:txBody>
      </p:sp>
      <p:sp>
        <p:nvSpPr>
          <p:cNvPr id="17" name="Text 13"/>
          <p:cNvSpPr/>
          <p:nvPr/>
        </p:nvSpPr>
        <p:spPr>
          <a:xfrm>
            <a:off x="342900" y="2305645"/>
            <a:ext cx="114634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db_method.name AS IllegalCall </a:t>
            </a:r>
            <a:endParaRPr lang="en-US" sz="575" dirty="0"/>
          </a:p>
        </p:txBody>
      </p:sp>
      <p:sp>
        <p:nvSpPr>
          <p:cNvPr id="18" name="Shape 14"/>
          <p:cNvSpPr/>
          <p:nvPr/>
        </p:nvSpPr>
        <p:spPr>
          <a:xfrm>
            <a:off x="171450" y="2703909"/>
            <a:ext cx="4314825" cy="1485900"/>
          </a:xfrm>
          <a:prstGeom prst="rect">
            <a:avLst/>
          </a:prstGeom>
          <a:solidFill>
            <a:srgbClr val="FCE4EC"/>
          </a:solidFill>
          <a:ln w="198">
            <a:solidFill>
              <a:srgbClr val="F47B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853928"/>
            <a:ext cx="128588" cy="128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0063" y="2818209"/>
            <a:ext cx="171472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Feedback Loop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285750" y="3107531"/>
            <a:ext cx="10689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Violation Detected: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1354689" y="3107531"/>
            <a:ext cx="10265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Query returns results</a:t>
            </a:r>
            <a:endParaRPr lang="en-US" sz="732" dirty="0"/>
          </a:p>
        </p:txBody>
      </p:sp>
      <p:sp>
        <p:nvSpPr>
          <p:cNvPr id="23" name="Text 18"/>
          <p:cNvSpPr/>
          <p:nvPr/>
        </p:nvSpPr>
        <p:spPr>
          <a:xfrm>
            <a:off x="285750" y="3307556"/>
            <a:ext cx="6494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Build Fails:</a:t>
            </a:r>
            <a:endParaRPr lang="en-US" sz="732" dirty="0"/>
          </a:p>
        </p:txBody>
      </p:sp>
      <p:sp>
        <p:nvSpPr>
          <p:cNvPr id="24" name="Text 19"/>
          <p:cNvSpPr/>
          <p:nvPr/>
        </p:nvSpPr>
        <p:spPr>
          <a:xfrm>
            <a:off x="935245" y="3307556"/>
            <a:ext cx="12734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CI build stops immediately</a:t>
            </a:r>
            <a:endParaRPr lang="en-US" sz="732" dirty="0"/>
          </a:p>
        </p:txBody>
      </p:sp>
      <p:sp>
        <p:nvSpPr>
          <p:cNvPr id="25" name="Text 20"/>
          <p:cNvSpPr/>
          <p:nvPr/>
        </p:nvSpPr>
        <p:spPr>
          <a:xfrm>
            <a:off x="285750" y="3507581"/>
            <a:ext cx="10198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Specific Feedback:</a:t>
            </a:r>
            <a:endParaRPr lang="en-US" sz="732" dirty="0"/>
          </a:p>
        </p:txBody>
      </p:sp>
      <p:sp>
        <p:nvSpPr>
          <p:cNvPr id="26" name="Text 21"/>
          <p:cNvSpPr/>
          <p:nvPr/>
        </p:nvSpPr>
        <p:spPr>
          <a:xfrm>
            <a:off x="1305604" y="3507581"/>
            <a:ext cx="11380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Comment posted on PR</a:t>
            </a:r>
            <a:endParaRPr lang="en-US" sz="732" dirty="0"/>
          </a:p>
        </p:txBody>
      </p:sp>
      <p:sp>
        <p:nvSpPr>
          <p:cNvPr id="27" name="Text 22"/>
          <p:cNvSpPr/>
          <p:nvPr/>
        </p:nvSpPr>
        <p:spPr>
          <a:xfrm>
            <a:off x="285750" y="3707606"/>
            <a:ext cx="6823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Team Alert:</a:t>
            </a:r>
            <a:endParaRPr lang="en-US" sz="732" dirty="0"/>
          </a:p>
        </p:txBody>
      </p:sp>
      <p:sp>
        <p:nvSpPr>
          <p:cNvPr id="28" name="Text 23"/>
          <p:cNvSpPr/>
          <p:nvPr/>
        </p:nvSpPr>
        <p:spPr>
          <a:xfrm>
            <a:off x="968062" y="3707606"/>
            <a:ext cx="13127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Development team notified</a:t>
            </a:r>
            <a:endParaRPr lang="en-US" sz="732" dirty="0"/>
          </a:p>
        </p:txBody>
      </p:sp>
      <p:sp>
        <p:nvSpPr>
          <p:cNvPr id="29" name="Text 24"/>
          <p:cNvSpPr/>
          <p:nvPr/>
        </p:nvSpPr>
        <p:spPr>
          <a:xfrm>
            <a:off x="285750" y="3907631"/>
            <a:ext cx="6868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Prevention:</a:t>
            </a:r>
            <a:endParaRPr lang="en-US" sz="732" dirty="0"/>
          </a:p>
        </p:txBody>
      </p:sp>
      <p:sp>
        <p:nvSpPr>
          <p:cNvPr id="30" name="Text 25"/>
          <p:cNvSpPr/>
          <p:nvPr/>
        </p:nvSpPr>
        <p:spPr>
          <a:xfrm>
            <a:off x="972555" y="3907631"/>
            <a:ext cx="12486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Code blocked from merge</a:t>
            </a:r>
            <a:endParaRPr lang="en-US" sz="732" dirty="0"/>
          </a:p>
        </p:txBody>
      </p:sp>
      <p:sp>
        <p:nvSpPr>
          <p:cNvPr id="31" name="Text 26"/>
          <p:cNvSpPr/>
          <p:nvPr/>
        </p:nvSpPr>
        <p:spPr>
          <a:xfrm>
            <a:off x="4657725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 Role Evolution</a:t>
            </a:r>
            <a:endParaRPr lang="en-US" sz="1046" dirty="0"/>
          </a:p>
        </p:txBody>
      </p:sp>
      <p:sp>
        <p:nvSpPr>
          <p:cNvPr id="32" name="Shape 27"/>
          <p:cNvSpPr/>
          <p:nvPr/>
        </p:nvSpPr>
        <p:spPr>
          <a:xfrm>
            <a:off x="4657725" y="1143000"/>
            <a:ext cx="4314825" cy="2257425"/>
          </a:xfrm>
          <a:prstGeom prst="rect">
            <a:avLst/>
          </a:prstGeom>
          <a:solidFill>
            <a:srgbClr val="F3E5F5"/>
          </a:solidFill>
          <a:ln w="198">
            <a:solidFill>
              <a:srgbClr val="00A9E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772025" y="12573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Model ❌</a:t>
            </a:r>
            <a:endParaRPr lang="en-US" sz="942" dirty="0"/>
          </a:p>
        </p:txBody>
      </p:sp>
      <p:sp>
        <p:nvSpPr>
          <p:cNvPr id="34" name="Text 29"/>
          <p:cNvSpPr/>
          <p:nvPr/>
        </p:nvSpPr>
        <p:spPr>
          <a:xfrm>
            <a:off x="4772025" y="15430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Manual periodic reviews</a:t>
            </a:r>
            <a:endParaRPr lang="en-US" sz="732" dirty="0"/>
          </a:p>
        </p:txBody>
      </p:sp>
      <p:sp>
        <p:nvSpPr>
          <p:cNvPr id="35" name="Text 30"/>
          <p:cNvSpPr/>
          <p:nvPr/>
        </p:nvSpPr>
        <p:spPr>
          <a:xfrm>
            <a:off x="4772025" y="171450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Slow, infrequent, error-prone</a:t>
            </a:r>
            <a:endParaRPr lang="en-US" sz="732" dirty="0"/>
          </a:p>
        </p:txBody>
      </p:sp>
      <p:sp>
        <p:nvSpPr>
          <p:cNvPr id="36" name="Text 31"/>
          <p:cNvSpPr/>
          <p:nvPr/>
        </p:nvSpPr>
        <p:spPr>
          <a:xfrm>
            <a:off x="4772025" y="18859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Architect as gatekeeper</a:t>
            </a:r>
            <a:endParaRPr lang="en-US" sz="732" dirty="0"/>
          </a:p>
        </p:txBody>
      </p:sp>
      <p:sp>
        <p:nvSpPr>
          <p:cNvPr id="37" name="Text 32"/>
          <p:cNvSpPr/>
          <p:nvPr/>
        </p:nvSpPr>
        <p:spPr>
          <a:xfrm>
            <a:off x="4772025" y="205740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Late feedback → costly rework</a:t>
            </a:r>
            <a:endParaRPr lang="en-US" sz="732" dirty="0"/>
          </a:p>
        </p:txBody>
      </p:sp>
      <p:sp>
        <p:nvSpPr>
          <p:cNvPr id="38" name="Text 33"/>
          <p:cNvSpPr/>
          <p:nvPr/>
        </p:nvSpPr>
        <p:spPr>
          <a:xfrm>
            <a:off x="4772025" y="2314575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Graph Model ✅</a:t>
            </a:r>
            <a:endParaRPr lang="en-US" sz="942" dirty="0"/>
          </a:p>
        </p:txBody>
      </p:sp>
      <p:sp>
        <p:nvSpPr>
          <p:cNvPr id="39" name="Text 34"/>
          <p:cNvSpPr/>
          <p:nvPr/>
        </p:nvSpPr>
        <p:spPr>
          <a:xfrm>
            <a:off x="4772025" y="26003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Automated continuous validation</a:t>
            </a:r>
            <a:endParaRPr lang="en-US" sz="732" dirty="0"/>
          </a:p>
        </p:txBody>
      </p:sp>
      <p:sp>
        <p:nvSpPr>
          <p:cNvPr id="40" name="Text 35"/>
          <p:cNvSpPr/>
          <p:nvPr/>
        </p:nvSpPr>
        <p:spPr>
          <a:xfrm>
            <a:off x="4772025" y="27717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Real-time, accurate, consistent</a:t>
            </a:r>
            <a:endParaRPr lang="en-US" sz="732" dirty="0"/>
          </a:p>
        </p:txBody>
      </p:sp>
      <p:sp>
        <p:nvSpPr>
          <p:cNvPr id="41" name="Text 36"/>
          <p:cNvSpPr/>
          <p:nvPr/>
        </p:nvSpPr>
        <p:spPr>
          <a:xfrm>
            <a:off x="4772025" y="29432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Architect as "rulesmith"</a:t>
            </a:r>
            <a:endParaRPr lang="en-US" sz="732" dirty="0"/>
          </a:p>
        </p:txBody>
      </p:sp>
      <p:sp>
        <p:nvSpPr>
          <p:cNvPr id="42" name="Text 37"/>
          <p:cNvSpPr/>
          <p:nvPr/>
        </p:nvSpPr>
        <p:spPr>
          <a:xfrm>
            <a:off x="4772025" y="31146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Immediate feedback → prevention</a:t>
            </a:r>
            <a:endParaRPr lang="en-US" sz="732" dirty="0"/>
          </a:p>
        </p:txBody>
      </p:sp>
      <p:sp>
        <p:nvSpPr>
          <p:cNvPr id="43" name="Shape 38"/>
          <p:cNvSpPr/>
          <p:nvPr/>
        </p:nvSpPr>
        <p:spPr>
          <a:xfrm>
            <a:off x="4657725" y="3486150"/>
            <a:ext cx="4314825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9"/>
          <p:cNvSpPr/>
          <p:nvPr/>
        </p:nvSpPr>
        <p:spPr>
          <a:xfrm>
            <a:off x="4657725" y="3486150"/>
            <a:ext cx="28575" cy="514350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45" name="Text 40"/>
          <p:cNvSpPr/>
          <p:nvPr/>
        </p:nvSpPr>
        <p:spPr>
          <a:xfrm>
            <a:off x="4743450" y="357187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Self-Healing Architecture</a:t>
            </a:r>
            <a:endParaRPr lang="en-US" sz="837" dirty="0"/>
          </a:p>
        </p:txBody>
      </p:sp>
      <p:sp>
        <p:nvSpPr>
          <p:cNvPr id="46" name="Text 41"/>
          <p:cNvSpPr/>
          <p:nvPr/>
        </p:nvSpPr>
        <p:spPr>
          <a:xfrm>
            <a:off x="4743450" y="377190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actively enforces its own design principles</a:t>
            </a:r>
            <a:endParaRPr lang="en-US" sz="732" dirty="0"/>
          </a:p>
        </p:txBody>
      </p:sp>
      <p:sp>
        <p:nvSpPr>
          <p:cNvPr id="47" name="Shape 42"/>
          <p:cNvSpPr/>
          <p:nvPr/>
        </p:nvSpPr>
        <p:spPr>
          <a:xfrm>
            <a:off x="4657725" y="4086225"/>
            <a:ext cx="4314825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3"/>
          <p:cNvSpPr/>
          <p:nvPr/>
        </p:nvSpPr>
        <p:spPr>
          <a:xfrm>
            <a:off x="4657725" y="4086225"/>
            <a:ext cx="28575" cy="51435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49" name="Text 44"/>
          <p:cNvSpPr/>
          <p:nvPr/>
        </p:nvSpPr>
        <p:spPr>
          <a:xfrm>
            <a:off x="4743450" y="417195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Scalable Expertise</a:t>
            </a:r>
            <a:endParaRPr lang="en-US" sz="837" dirty="0"/>
          </a:p>
        </p:txBody>
      </p:sp>
      <p:sp>
        <p:nvSpPr>
          <p:cNvPr id="50" name="Text 45"/>
          <p:cNvSpPr/>
          <p:nvPr/>
        </p:nvSpPr>
        <p:spPr>
          <a:xfrm>
            <a:off x="4743450" y="4371975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Architect's intent scales across entire organization</a:t>
            </a:r>
            <a:endParaRPr lang="en-US" sz="732" dirty="0"/>
          </a:p>
        </p:txBody>
      </p:sp>
      <p:sp>
        <p:nvSpPr>
          <p:cNvPr id="51" name="Shape 46"/>
          <p:cNvSpPr/>
          <p:nvPr/>
        </p:nvSpPr>
        <p:spPr>
          <a:xfrm>
            <a:off x="4657725" y="4686300"/>
            <a:ext cx="4314825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7"/>
          <p:cNvSpPr/>
          <p:nvPr/>
        </p:nvSpPr>
        <p:spPr>
          <a:xfrm>
            <a:off x="4657725" y="4686300"/>
            <a:ext cx="28575" cy="51435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53" name="Text 48"/>
          <p:cNvSpPr/>
          <p:nvPr/>
        </p:nvSpPr>
        <p:spPr>
          <a:xfrm>
            <a:off x="4743450" y="477202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Integrity</a:t>
            </a:r>
            <a:endParaRPr lang="en-US" sz="837" dirty="0"/>
          </a:p>
        </p:txBody>
      </p:sp>
      <p:sp>
        <p:nvSpPr>
          <p:cNvPr id="54" name="Text 49"/>
          <p:cNvSpPr/>
          <p:nvPr/>
        </p:nvSpPr>
        <p:spPr>
          <a:xfrm>
            <a:off x="4743450" y="497205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Architectural integrity maintained automatically as team grows</a:t>
            </a:r>
            <a:endParaRPr lang="en-US" sz="732" dirty="0"/>
          </a:p>
        </p:txBody>
      </p:sp>
      <p:sp>
        <p:nvSpPr>
          <p:cNvPr id="55" name="Shape 50"/>
          <p:cNvSpPr/>
          <p:nvPr/>
        </p:nvSpPr>
        <p:spPr>
          <a:xfrm>
            <a:off x="4657725" y="5314950"/>
            <a:ext cx="4314825" cy="31432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6" name="Shape 51"/>
          <p:cNvSpPr/>
          <p:nvPr/>
        </p:nvSpPr>
        <p:spPr>
          <a:xfrm>
            <a:off x="4657725" y="5314950"/>
            <a:ext cx="28575" cy="3143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2"/>
          <p:cNvSpPr/>
          <p:nvPr/>
        </p:nvSpPr>
        <p:spPr>
          <a:xfrm>
            <a:off x="4743450" y="5404247"/>
            <a:ext cx="342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Result:</a:t>
            </a:r>
            <a:endParaRPr lang="en-US" sz="732" dirty="0"/>
          </a:p>
        </p:txBody>
      </p:sp>
      <p:sp>
        <p:nvSpPr>
          <p:cNvPr id="58" name="Text 53"/>
          <p:cNvSpPr/>
          <p:nvPr/>
        </p:nvSpPr>
        <p:spPr>
          <a:xfrm>
            <a:off x="5086406" y="5404247"/>
            <a:ext cx="36015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Architecture becomes active, automated participant in development process</a:t>
            </a:r>
            <a:endParaRPr lang="en-US" sz="73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43000" y="973336"/>
            <a:ext cx="6858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spc="3" kern="0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IV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430536"/>
            <a:ext cx="68580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375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Automated Artifact Generation </a:t>
            </a:r>
            <a:endParaRPr lang="en-US" sz="3375" dirty="0"/>
          </a:p>
        </p:txBody>
      </p:sp>
      <p:sp>
        <p:nvSpPr>
          <p:cNvPr id="6" name="Text 3"/>
          <p:cNvSpPr/>
          <p:nvPr/>
        </p:nvSpPr>
        <p:spPr>
          <a:xfrm>
            <a:off x="1143000" y="2730698"/>
            <a:ext cx="6858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the Knowledge Graph 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1371600" y="3473648"/>
            <a:ext cx="640080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Transforming knowledge graph insights into tangible development artifacts including architectural documentation, test cases, and automated project management workflows to streamline the entire software development lifecycle. </a:t>
            </a:r>
            <a:endParaRPr lang="en-US" sz="104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470008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4.1 Automated Documentation Generation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470008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Living Architecture Documentation with arc42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Workflow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4314825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143000"/>
            <a:ext cx="28575" cy="19431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Shape 6"/>
          <p:cNvSpPr/>
          <p:nvPr/>
        </p:nvSpPr>
        <p:spPr>
          <a:xfrm>
            <a:off x="100013" y="1071563"/>
            <a:ext cx="200025" cy="200025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0" name="Text 7"/>
          <p:cNvSpPr/>
          <p:nvPr/>
        </p:nvSpPr>
        <p:spPr>
          <a:xfrm>
            <a:off x="100013" y="10715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11" name="Text 8"/>
          <p:cNvSpPr/>
          <p:nvPr/>
        </p:nvSpPr>
        <p:spPr>
          <a:xfrm>
            <a:off x="285750" y="12573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 Queries for arc42 Sections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285750" y="15144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library of Cypher queries for each arc42 template section</a:t>
            </a:r>
            <a:endParaRPr lang="en-US" sz="732" dirty="0"/>
          </a:p>
        </p:txBody>
      </p:sp>
      <p:sp>
        <p:nvSpPr>
          <p:cNvPr id="13" name="Shape 10"/>
          <p:cNvSpPr/>
          <p:nvPr/>
        </p:nvSpPr>
        <p:spPr>
          <a:xfrm>
            <a:off x="285750" y="1743075"/>
            <a:ext cx="4086225" cy="371475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" y="1800225"/>
            <a:ext cx="3971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 5 (Building Block View)</a:t>
            </a:r>
            <a:endParaRPr lang="en-US" sz="628" dirty="0"/>
          </a:p>
        </p:txBody>
      </p:sp>
      <p:sp>
        <p:nvSpPr>
          <p:cNvPr id="15" name="Text 12"/>
          <p:cNvSpPr/>
          <p:nvPr/>
        </p:nvSpPr>
        <p:spPr>
          <a:xfrm>
            <a:off x="342900" y="1914525"/>
            <a:ext cx="3971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Query: Module/Component nodes + DEPENDS_ON relationships</a:t>
            </a:r>
            <a:endParaRPr lang="en-US" sz="628" dirty="0"/>
          </a:p>
        </p:txBody>
      </p:sp>
      <p:sp>
        <p:nvSpPr>
          <p:cNvPr id="16" name="Shape 13"/>
          <p:cNvSpPr/>
          <p:nvPr/>
        </p:nvSpPr>
        <p:spPr>
          <a:xfrm>
            <a:off x="285750" y="2143125"/>
            <a:ext cx="4086225" cy="371475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2900" y="2200275"/>
            <a:ext cx="3971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 6 (Runtime View)</a:t>
            </a:r>
            <a:endParaRPr lang="en-US" sz="628" dirty="0"/>
          </a:p>
        </p:txBody>
      </p:sp>
      <p:sp>
        <p:nvSpPr>
          <p:cNvPr id="18" name="Text 15"/>
          <p:cNvSpPr/>
          <p:nvPr/>
        </p:nvSpPr>
        <p:spPr>
          <a:xfrm>
            <a:off x="342900" y="2314575"/>
            <a:ext cx="3971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Query: Trace user interactions through CALLS graph</a:t>
            </a:r>
            <a:endParaRPr lang="en-US" sz="628" dirty="0"/>
          </a:p>
        </p:txBody>
      </p:sp>
      <p:sp>
        <p:nvSpPr>
          <p:cNvPr id="19" name="Shape 16"/>
          <p:cNvSpPr/>
          <p:nvPr/>
        </p:nvSpPr>
        <p:spPr>
          <a:xfrm>
            <a:off x="285750" y="2543175"/>
            <a:ext cx="4086225" cy="371475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2900" y="2600325"/>
            <a:ext cx="3971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 8 (Cross-cutting Concepts)</a:t>
            </a:r>
            <a:endParaRPr lang="en-US" sz="628" dirty="0"/>
          </a:p>
        </p:txBody>
      </p:sp>
      <p:sp>
        <p:nvSpPr>
          <p:cNvPr id="21" name="Text 18"/>
          <p:cNvSpPr/>
          <p:nvPr/>
        </p:nvSpPr>
        <p:spPr>
          <a:xfrm>
            <a:off x="342900" y="2714625"/>
            <a:ext cx="3971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Query: Find nodes by concern (Logging, Authentication)</a:t>
            </a:r>
            <a:endParaRPr lang="en-US" sz="628" dirty="0"/>
          </a:p>
        </p:txBody>
      </p:sp>
      <p:sp>
        <p:nvSpPr>
          <p:cNvPr id="22" name="Shape 19"/>
          <p:cNvSpPr/>
          <p:nvPr/>
        </p:nvSpPr>
        <p:spPr>
          <a:xfrm>
            <a:off x="171450" y="3114675"/>
            <a:ext cx="4314825" cy="1228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171450" y="3114675"/>
            <a:ext cx="28575" cy="1228725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4" name="Shape 21"/>
          <p:cNvSpPr/>
          <p:nvPr/>
        </p:nvSpPr>
        <p:spPr>
          <a:xfrm>
            <a:off x="100013" y="3043238"/>
            <a:ext cx="200025" cy="200025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5" name="Text 22"/>
          <p:cNvSpPr/>
          <p:nvPr/>
        </p:nvSpPr>
        <p:spPr>
          <a:xfrm>
            <a:off x="100013" y="30432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285750" y="3228975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Programmatic AsciiDoc Generation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285750" y="34861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script executes queries and constructs .adoc file</a:t>
            </a:r>
            <a:endParaRPr lang="en-US" sz="732" dirty="0"/>
          </a:p>
        </p:txBody>
      </p:sp>
      <p:sp>
        <p:nvSpPr>
          <p:cNvPr id="28" name="Text 25"/>
          <p:cNvSpPr/>
          <p:nvPr/>
        </p:nvSpPr>
        <p:spPr>
          <a:xfrm>
            <a:off x="285750" y="368617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Execute Cypher queries against live KG</a:t>
            </a:r>
            <a:endParaRPr lang="en-US" sz="628" dirty="0"/>
          </a:p>
        </p:txBody>
      </p:sp>
      <p:sp>
        <p:nvSpPr>
          <p:cNvPr id="29" name="Text 26"/>
          <p:cNvSpPr/>
          <p:nvPr/>
        </p:nvSpPr>
        <p:spPr>
          <a:xfrm>
            <a:off x="285750" y="382905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Generate AsciiDoc syntax (headings, lists, tables)</a:t>
            </a:r>
            <a:endParaRPr lang="en-US" sz="628" dirty="0"/>
          </a:p>
        </p:txBody>
      </p:sp>
      <p:sp>
        <p:nvSpPr>
          <p:cNvPr id="30" name="Text 27"/>
          <p:cNvSpPr/>
          <p:nvPr/>
        </p:nvSpPr>
        <p:spPr>
          <a:xfrm>
            <a:off x="285750" y="397192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Export graph data for Mermaid/PlantUML diagrams</a:t>
            </a:r>
            <a:endParaRPr lang="en-US" sz="628" dirty="0"/>
          </a:p>
        </p:txBody>
      </p:sp>
      <p:sp>
        <p:nvSpPr>
          <p:cNvPr id="31" name="Text 28"/>
          <p:cNvSpPr/>
          <p:nvPr/>
        </p:nvSpPr>
        <p:spPr>
          <a:xfrm>
            <a:off x="285750" y="411480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Embed diagrams directly into AsciiDoc source</a:t>
            </a:r>
            <a:endParaRPr lang="en-US" sz="628" dirty="0"/>
          </a:p>
        </p:txBody>
      </p:sp>
      <p:sp>
        <p:nvSpPr>
          <p:cNvPr id="32" name="Shape 29"/>
          <p:cNvSpPr/>
          <p:nvPr/>
        </p:nvSpPr>
        <p:spPr>
          <a:xfrm>
            <a:off x="171450" y="4457700"/>
            <a:ext cx="4314825" cy="12287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171450" y="4457700"/>
            <a:ext cx="28575" cy="122872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34" name="Shape 31"/>
          <p:cNvSpPr/>
          <p:nvPr/>
        </p:nvSpPr>
        <p:spPr>
          <a:xfrm>
            <a:off x="100013" y="4386263"/>
            <a:ext cx="200025" cy="200025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5" name="Text 32"/>
          <p:cNvSpPr/>
          <p:nvPr/>
        </p:nvSpPr>
        <p:spPr>
          <a:xfrm>
            <a:off x="100013" y="43862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32" dirty="0"/>
          </a:p>
        </p:txBody>
      </p:sp>
      <p:sp>
        <p:nvSpPr>
          <p:cNvPr id="36" name="Text 33"/>
          <p:cNvSpPr/>
          <p:nvPr/>
        </p:nvSpPr>
        <p:spPr>
          <a:xfrm>
            <a:off x="285750" y="4572000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docToolchain Processing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285750" y="48291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"golden master" .adoc file into final formats</a:t>
            </a:r>
            <a:endParaRPr lang="en-US" sz="732" dirty="0"/>
          </a:p>
        </p:txBody>
      </p:sp>
      <p:sp>
        <p:nvSpPr>
          <p:cNvPr id="38" name="Text 35"/>
          <p:cNvSpPr/>
          <p:nvPr/>
        </p:nvSpPr>
        <p:spPr>
          <a:xfrm>
            <a:off x="285750" y="502920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Resolve includes and render diagrams</a:t>
            </a:r>
            <a:endParaRPr lang="en-US" sz="628" dirty="0"/>
          </a:p>
        </p:txBody>
      </p:sp>
      <p:sp>
        <p:nvSpPr>
          <p:cNvPr id="39" name="Text 36"/>
          <p:cNvSpPr/>
          <p:nvPr/>
        </p:nvSpPr>
        <p:spPr>
          <a:xfrm>
            <a:off x="285750" y="517207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Compile to HTML, PDF, Confluence pages</a:t>
            </a:r>
            <a:endParaRPr lang="en-US" sz="628" dirty="0"/>
          </a:p>
        </p:txBody>
      </p:sp>
      <p:sp>
        <p:nvSpPr>
          <p:cNvPr id="40" name="Text 37"/>
          <p:cNvSpPr/>
          <p:nvPr/>
        </p:nvSpPr>
        <p:spPr>
          <a:xfrm>
            <a:off x="285750" y="5314950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Fully-formatted arc42 documentation</a:t>
            </a:r>
            <a:endParaRPr lang="en-US" sz="628" dirty="0"/>
          </a:p>
        </p:txBody>
      </p:sp>
      <p:sp>
        <p:nvSpPr>
          <p:cNvPr id="41" name="Text 38"/>
          <p:cNvSpPr/>
          <p:nvPr/>
        </p:nvSpPr>
        <p:spPr>
          <a:xfrm>
            <a:off x="285750" y="5457825"/>
            <a:ext cx="40862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Ready for distribution and consumption</a:t>
            </a:r>
            <a:endParaRPr lang="en-US" sz="628" dirty="0"/>
          </a:p>
        </p:txBody>
      </p:sp>
      <p:sp>
        <p:nvSpPr>
          <p:cNvPr id="42" name="Text 39"/>
          <p:cNvSpPr/>
          <p:nvPr/>
        </p:nvSpPr>
        <p:spPr>
          <a:xfrm>
            <a:off x="4657725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1046" dirty="0"/>
          </a:p>
        </p:txBody>
      </p:sp>
      <p:sp>
        <p:nvSpPr>
          <p:cNvPr id="43" name="Shape 40"/>
          <p:cNvSpPr/>
          <p:nvPr/>
        </p:nvSpPr>
        <p:spPr>
          <a:xfrm>
            <a:off x="4657725" y="1143000"/>
            <a:ext cx="4314825" cy="828675"/>
          </a:xfrm>
          <a:prstGeom prst="rect">
            <a:avLst/>
          </a:prstGeom>
          <a:solidFill>
            <a:srgbClr val="FCE4EC"/>
          </a:solidFill>
          <a:ln w="198">
            <a:solidFill>
              <a:srgbClr val="F47B20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293019"/>
            <a:ext cx="128588" cy="12858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4986338" y="1257300"/>
            <a:ext cx="983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Always Current</a:t>
            </a:r>
            <a:endParaRPr lang="en-US" sz="942" dirty="0"/>
          </a:p>
        </p:txBody>
      </p:sp>
      <p:sp>
        <p:nvSpPr>
          <p:cNvPr id="46" name="Text 42"/>
          <p:cNvSpPr/>
          <p:nvPr/>
        </p:nvSpPr>
        <p:spPr>
          <a:xfrm>
            <a:off x="4772025" y="1543050"/>
            <a:ext cx="4086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 never out of sync with implementation - generated from live KG updated on every code change</a:t>
            </a:r>
            <a:endParaRPr lang="en-US" sz="732" dirty="0"/>
          </a:p>
        </p:txBody>
      </p:sp>
      <p:sp>
        <p:nvSpPr>
          <p:cNvPr id="47" name="Shape 43"/>
          <p:cNvSpPr/>
          <p:nvPr/>
        </p:nvSpPr>
        <p:spPr>
          <a:xfrm>
            <a:off x="4657725" y="2057400"/>
            <a:ext cx="4314825" cy="828675"/>
          </a:xfrm>
          <a:prstGeom prst="rect">
            <a:avLst/>
          </a:prstGeom>
          <a:solidFill>
            <a:srgbClr val="FCE4EC"/>
          </a:solidFill>
          <a:ln w="198">
            <a:solidFill>
              <a:srgbClr val="F47B20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2207419"/>
            <a:ext cx="160734" cy="128588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5018484" y="2171700"/>
            <a:ext cx="11075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Asset</a:t>
            </a:r>
            <a:endParaRPr lang="en-US" sz="942" dirty="0"/>
          </a:p>
        </p:txBody>
      </p:sp>
      <p:sp>
        <p:nvSpPr>
          <p:cNvPr id="50" name="Text 45"/>
          <p:cNvSpPr/>
          <p:nvPr/>
        </p:nvSpPr>
        <p:spPr>
          <a:xfrm>
            <a:off x="4772025" y="2457450"/>
            <a:ext cx="4086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Transforms documentation from manual chore to automated, valuable asset generated as part of development process</a:t>
            </a:r>
            <a:endParaRPr lang="en-US" sz="732" dirty="0"/>
          </a:p>
        </p:txBody>
      </p:sp>
      <p:sp>
        <p:nvSpPr>
          <p:cNvPr id="51" name="Shape 46"/>
          <p:cNvSpPr/>
          <p:nvPr/>
        </p:nvSpPr>
        <p:spPr>
          <a:xfrm>
            <a:off x="4657725" y="2971800"/>
            <a:ext cx="4314825" cy="828675"/>
          </a:xfrm>
          <a:prstGeom prst="rect">
            <a:avLst/>
          </a:prstGeom>
          <a:solidFill>
            <a:srgbClr val="FCE4EC"/>
          </a:solidFill>
          <a:ln w="198">
            <a:solidFill>
              <a:srgbClr val="F47B20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3121819"/>
            <a:ext cx="128588" cy="128588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4986338" y="3086100"/>
            <a:ext cx="124756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Reliable &amp; Accurate</a:t>
            </a:r>
            <a:endParaRPr lang="en-US" sz="942" dirty="0"/>
          </a:p>
        </p:txBody>
      </p:sp>
      <p:sp>
        <p:nvSpPr>
          <p:cNvPr id="54" name="Text 48"/>
          <p:cNvSpPr/>
          <p:nvPr/>
        </p:nvSpPr>
        <p:spPr>
          <a:xfrm>
            <a:off x="4772025" y="3371850"/>
            <a:ext cx="4086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 becomes reliable reflection of system's current state, not lagging behind development</a:t>
            </a:r>
            <a:endParaRPr lang="en-US" sz="732" dirty="0"/>
          </a:p>
        </p:txBody>
      </p:sp>
      <p:sp>
        <p:nvSpPr>
          <p:cNvPr id="55" name="Shape 49"/>
          <p:cNvSpPr/>
          <p:nvPr/>
        </p:nvSpPr>
        <p:spPr>
          <a:xfrm>
            <a:off x="4657725" y="3886200"/>
            <a:ext cx="4314825" cy="100012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6" name="Shape 50"/>
          <p:cNvSpPr/>
          <p:nvPr/>
        </p:nvSpPr>
        <p:spPr>
          <a:xfrm>
            <a:off x="4657725" y="3886200"/>
            <a:ext cx="28575" cy="100012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7" name="Text 51"/>
          <p:cNvSpPr/>
          <p:nvPr/>
        </p:nvSpPr>
        <p:spPr>
          <a:xfrm>
            <a:off x="4772025" y="4000500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Stack</a:t>
            </a:r>
            <a:endParaRPr lang="en-US" sz="837" dirty="0"/>
          </a:p>
        </p:txBody>
      </p:sp>
      <p:sp>
        <p:nvSpPr>
          <p:cNvPr id="58" name="Text 52"/>
          <p:cNvSpPr/>
          <p:nvPr/>
        </p:nvSpPr>
        <p:spPr>
          <a:xfrm>
            <a:off x="4772025" y="4232672"/>
            <a:ext cx="4176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Queries:</a:t>
            </a:r>
            <a:endParaRPr lang="en-US" sz="732" dirty="0"/>
          </a:p>
        </p:txBody>
      </p:sp>
      <p:sp>
        <p:nvSpPr>
          <p:cNvPr id="59" name="Text 53"/>
          <p:cNvSpPr/>
          <p:nvPr/>
        </p:nvSpPr>
        <p:spPr>
          <a:xfrm>
            <a:off x="5189683" y="4232672"/>
            <a:ext cx="3612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Cypher</a:t>
            </a:r>
            <a:endParaRPr lang="en-US" sz="732" dirty="0"/>
          </a:p>
        </p:txBody>
      </p:sp>
      <p:sp>
        <p:nvSpPr>
          <p:cNvPr id="60" name="Text 54"/>
          <p:cNvSpPr/>
          <p:nvPr/>
        </p:nvSpPr>
        <p:spPr>
          <a:xfrm>
            <a:off x="6843713" y="4232672"/>
            <a:ext cx="5901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Generation:</a:t>
            </a:r>
            <a:endParaRPr lang="en-US" sz="732" dirty="0"/>
          </a:p>
        </p:txBody>
      </p:sp>
      <p:sp>
        <p:nvSpPr>
          <p:cNvPr id="61" name="Text 55"/>
          <p:cNvSpPr/>
          <p:nvPr/>
        </p:nvSpPr>
        <p:spPr>
          <a:xfrm>
            <a:off x="7433909" y="4232672"/>
            <a:ext cx="10460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Python + Neo4j driver</a:t>
            </a:r>
            <a:endParaRPr lang="en-US" sz="732" dirty="0"/>
          </a:p>
        </p:txBody>
      </p:sp>
      <p:sp>
        <p:nvSpPr>
          <p:cNvPr id="62" name="Text 56"/>
          <p:cNvSpPr/>
          <p:nvPr/>
        </p:nvSpPr>
        <p:spPr>
          <a:xfrm>
            <a:off x="4772025" y="4432697"/>
            <a:ext cx="3927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Format:</a:t>
            </a:r>
            <a:endParaRPr lang="en-US" sz="732" dirty="0"/>
          </a:p>
        </p:txBody>
      </p:sp>
      <p:sp>
        <p:nvSpPr>
          <p:cNvPr id="63" name="Text 57"/>
          <p:cNvSpPr/>
          <p:nvPr/>
        </p:nvSpPr>
        <p:spPr>
          <a:xfrm>
            <a:off x="5164792" y="4432697"/>
            <a:ext cx="4189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AsciiDoc</a:t>
            </a:r>
            <a:endParaRPr lang="en-US" sz="732" dirty="0"/>
          </a:p>
        </p:txBody>
      </p:sp>
      <p:sp>
        <p:nvSpPr>
          <p:cNvPr id="64" name="Text 58"/>
          <p:cNvSpPr/>
          <p:nvPr/>
        </p:nvSpPr>
        <p:spPr>
          <a:xfrm>
            <a:off x="6843713" y="4432697"/>
            <a:ext cx="5084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Diagrams:</a:t>
            </a:r>
            <a:endParaRPr lang="en-US" sz="732" dirty="0"/>
          </a:p>
        </p:txBody>
      </p:sp>
      <p:sp>
        <p:nvSpPr>
          <p:cNvPr id="65" name="Text 59"/>
          <p:cNvSpPr/>
          <p:nvPr/>
        </p:nvSpPr>
        <p:spPr>
          <a:xfrm>
            <a:off x="7352202" y="4432697"/>
            <a:ext cx="9607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Mermaid, PlantUML</a:t>
            </a:r>
            <a:endParaRPr lang="en-US" sz="732" dirty="0"/>
          </a:p>
        </p:txBody>
      </p:sp>
      <p:sp>
        <p:nvSpPr>
          <p:cNvPr id="66" name="Text 60"/>
          <p:cNvSpPr/>
          <p:nvPr/>
        </p:nvSpPr>
        <p:spPr>
          <a:xfrm>
            <a:off x="4772025" y="4632722"/>
            <a:ext cx="5660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Processing:</a:t>
            </a:r>
            <a:endParaRPr lang="en-US" sz="732" dirty="0"/>
          </a:p>
        </p:txBody>
      </p:sp>
      <p:sp>
        <p:nvSpPr>
          <p:cNvPr id="67" name="Text 61"/>
          <p:cNvSpPr/>
          <p:nvPr/>
        </p:nvSpPr>
        <p:spPr>
          <a:xfrm>
            <a:off x="5338111" y="4632722"/>
            <a:ext cx="6450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docToolchain</a:t>
            </a:r>
            <a:endParaRPr lang="en-US" sz="732" dirty="0"/>
          </a:p>
        </p:txBody>
      </p:sp>
      <p:sp>
        <p:nvSpPr>
          <p:cNvPr id="68" name="Text 62"/>
          <p:cNvSpPr/>
          <p:nvPr/>
        </p:nvSpPr>
        <p:spPr>
          <a:xfrm>
            <a:off x="6843713" y="4632722"/>
            <a:ext cx="389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Output:</a:t>
            </a:r>
            <a:endParaRPr lang="en-US" sz="732" dirty="0"/>
          </a:p>
        </p:txBody>
      </p:sp>
      <p:sp>
        <p:nvSpPr>
          <p:cNvPr id="69" name="Text 63"/>
          <p:cNvSpPr/>
          <p:nvPr/>
        </p:nvSpPr>
        <p:spPr>
          <a:xfrm>
            <a:off x="7233382" y="4632722"/>
            <a:ext cx="11140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HTML, PDF, Confluence</a:t>
            </a:r>
            <a:endParaRPr lang="en-US" sz="732" dirty="0"/>
          </a:p>
        </p:txBody>
      </p:sp>
      <p:sp>
        <p:nvSpPr>
          <p:cNvPr id="70" name="Shape 64"/>
          <p:cNvSpPr/>
          <p:nvPr/>
        </p:nvSpPr>
        <p:spPr>
          <a:xfrm>
            <a:off x="4657725" y="5000625"/>
            <a:ext cx="4314825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71" name="Shape 65"/>
          <p:cNvSpPr/>
          <p:nvPr/>
        </p:nvSpPr>
        <p:spPr>
          <a:xfrm>
            <a:off x="4657725" y="5000625"/>
            <a:ext cx="28575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2" name="Text 66"/>
          <p:cNvSpPr/>
          <p:nvPr/>
        </p:nvSpPr>
        <p:spPr>
          <a:xfrm>
            <a:off x="4743450" y="5089922"/>
            <a:ext cx="8068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Transformation:</a:t>
            </a:r>
            <a:endParaRPr lang="en-US" sz="732" dirty="0"/>
          </a:p>
        </p:txBody>
      </p:sp>
      <p:sp>
        <p:nvSpPr>
          <p:cNvPr id="73" name="Text 67"/>
          <p:cNvSpPr/>
          <p:nvPr/>
        </p:nvSpPr>
        <p:spPr>
          <a:xfrm>
            <a:off x="5550275" y="5089922"/>
            <a:ext cx="29709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burdensome manual task to natural part of development </a:t>
            </a:r>
            <a:endParaRPr lang="en-US" sz="732" dirty="0"/>
          </a:p>
        </p:txBody>
      </p:sp>
      <p:sp>
        <p:nvSpPr>
          <p:cNvPr id="74" name="Text 68"/>
          <p:cNvSpPr/>
          <p:nvPr/>
        </p:nvSpPr>
        <p:spPr>
          <a:xfrm>
            <a:off x="4743450" y="5232797"/>
            <a:ext cx="4311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workflow</a:t>
            </a:r>
            <a:endParaRPr lang="en-US" sz="73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9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312315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4.2 Deriving Test Cases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31231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Test Generation from Knowledge Graph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Test Generation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4314825" cy="1675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143000"/>
            <a:ext cx="28575" cy="1675209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93019"/>
            <a:ext cx="128588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0063" y="1257300"/>
            <a:ext cx="13268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Unit Test Generation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285750" y="15430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Contextual Profile Building: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300038" y="1757363"/>
            <a:ext cx="658146" cy="18930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0038" y="1757363"/>
            <a:ext cx="658146" cy="18930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Function node</a:t>
            </a:r>
            <a:endParaRPr lang="en-US" sz="575" dirty="0"/>
          </a:p>
        </p:txBody>
      </p:sp>
      <p:sp>
        <p:nvSpPr>
          <p:cNvPr id="14" name="Shape 10"/>
          <p:cNvSpPr/>
          <p:nvPr/>
        </p:nvSpPr>
        <p:spPr>
          <a:xfrm>
            <a:off x="972471" y="1757363"/>
            <a:ext cx="579118" cy="18930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72471" y="1757363"/>
            <a:ext cx="579118" cy="18930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code</a:t>
            </a:r>
            <a:endParaRPr lang="en-US" sz="575" dirty="0"/>
          </a:p>
        </p:txBody>
      </p:sp>
      <p:sp>
        <p:nvSpPr>
          <p:cNvPr id="16" name="Shape 12"/>
          <p:cNvSpPr/>
          <p:nvPr/>
        </p:nvSpPr>
        <p:spPr>
          <a:xfrm>
            <a:off x="1565877" y="1757363"/>
            <a:ext cx="852897" cy="18930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565877" y="1757363"/>
            <a:ext cx="852897" cy="18930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Parameters &amp; types</a:t>
            </a:r>
            <a:endParaRPr lang="en-US" sz="575" dirty="0"/>
          </a:p>
        </p:txBody>
      </p:sp>
      <p:sp>
        <p:nvSpPr>
          <p:cNvPr id="18" name="Shape 14"/>
          <p:cNvSpPr/>
          <p:nvPr/>
        </p:nvSpPr>
        <p:spPr>
          <a:xfrm>
            <a:off x="2433061" y="1757363"/>
            <a:ext cx="561259" cy="18930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33061" y="1757363"/>
            <a:ext cx="561259" cy="18930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 type</a:t>
            </a:r>
            <a:endParaRPr lang="en-US" sz="575" dirty="0"/>
          </a:p>
        </p:txBody>
      </p:sp>
      <p:sp>
        <p:nvSpPr>
          <p:cNvPr id="20" name="Shape 16"/>
          <p:cNvSpPr/>
          <p:nvPr/>
        </p:nvSpPr>
        <p:spPr>
          <a:xfrm>
            <a:off x="3008607" y="1757363"/>
            <a:ext cx="652649" cy="18930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008607" y="1757363"/>
            <a:ext cx="652649" cy="18930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Dependencies</a:t>
            </a:r>
            <a:endParaRPr lang="en-US" sz="575" dirty="0"/>
          </a:p>
        </p:txBody>
      </p:sp>
      <p:sp>
        <p:nvSpPr>
          <p:cNvPr id="22" name="Shape 18"/>
          <p:cNvSpPr/>
          <p:nvPr/>
        </p:nvSpPr>
        <p:spPr>
          <a:xfrm>
            <a:off x="285750" y="2032397"/>
            <a:ext cx="4086225" cy="485775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71475" y="2121694"/>
            <a:ext cx="406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Process:</a:t>
            </a:r>
            <a:endParaRPr lang="en-US" sz="732" dirty="0"/>
          </a:p>
        </p:txBody>
      </p:sp>
      <p:sp>
        <p:nvSpPr>
          <p:cNvPr id="24" name="Text 20"/>
          <p:cNvSpPr/>
          <p:nvPr/>
        </p:nvSpPr>
        <p:spPr>
          <a:xfrm>
            <a:off x="778027" y="2121694"/>
            <a:ext cx="33339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KG query → Complete context → LLM prompt → Generate unit test file </a:t>
            </a:r>
            <a:endParaRPr lang="en-US" sz="732" dirty="0"/>
          </a:p>
        </p:txBody>
      </p:sp>
      <p:sp>
        <p:nvSpPr>
          <p:cNvPr id="25" name="Text 21"/>
          <p:cNvSpPr/>
          <p:nvPr/>
        </p:nvSpPr>
        <p:spPr>
          <a:xfrm>
            <a:off x="371475" y="2264569"/>
            <a:ext cx="25778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(JUnit/PyTest) → Create mock objects for dependencies </a:t>
            </a:r>
            <a:endParaRPr lang="en-US" sz="732" dirty="0"/>
          </a:p>
        </p:txBody>
      </p:sp>
      <p:sp>
        <p:nvSpPr>
          <p:cNvPr id="26" name="Text 22"/>
          <p:cNvSpPr/>
          <p:nvPr/>
        </p:nvSpPr>
        <p:spPr>
          <a:xfrm>
            <a:off x="285750" y="2544961"/>
            <a:ext cx="2939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Result:</a:t>
            </a:r>
            <a:endParaRPr lang="en-US" sz="628" dirty="0"/>
          </a:p>
        </p:txBody>
      </p:sp>
      <p:sp>
        <p:nvSpPr>
          <p:cNvPr id="27" name="Text 23"/>
          <p:cNvSpPr/>
          <p:nvPr/>
        </p:nvSpPr>
        <p:spPr>
          <a:xfrm>
            <a:off x="579704" y="2544961"/>
            <a:ext cx="16395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True unit test that isolates function logic </a:t>
            </a:r>
            <a:endParaRPr lang="en-US" sz="628" dirty="0"/>
          </a:p>
        </p:txBody>
      </p:sp>
      <p:sp>
        <p:nvSpPr>
          <p:cNvPr id="28" name="Shape 24"/>
          <p:cNvSpPr/>
          <p:nvPr/>
        </p:nvSpPr>
        <p:spPr>
          <a:xfrm>
            <a:off x="171450" y="2889647"/>
            <a:ext cx="4314825" cy="1600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5"/>
          <p:cNvSpPr/>
          <p:nvPr/>
        </p:nvSpPr>
        <p:spPr>
          <a:xfrm>
            <a:off x="171450" y="2889647"/>
            <a:ext cx="28575" cy="1600200"/>
          </a:xfrm>
          <a:prstGeom prst="rect">
            <a:avLst/>
          </a:prstGeom>
          <a:solidFill>
            <a:srgbClr val="00559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039666"/>
            <a:ext cx="144661" cy="128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6136" y="3003947"/>
            <a:ext cx="25327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Test Scenario Identification</a:t>
            </a:r>
            <a:endParaRPr lang="en-US" sz="942" dirty="0"/>
          </a:p>
        </p:txBody>
      </p:sp>
      <p:sp>
        <p:nvSpPr>
          <p:cNvPr id="32" name="Text 27"/>
          <p:cNvSpPr/>
          <p:nvPr/>
        </p:nvSpPr>
        <p:spPr>
          <a:xfrm>
            <a:off x="285750" y="3289697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End-to-End Path Tracing:</a:t>
            </a:r>
            <a:endParaRPr lang="en-US" sz="732" dirty="0"/>
          </a:p>
        </p:txBody>
      </p:sp>
      <p:sp>
        <p:nvSpPr>
          <p:cNvPr id="33" name="Text 28"/>
          <p:cNvSpPr/>
          <p:nvPr/>
        </p:nvSpPr>
        <p:spPr>
          <a:xfrm>
            <a:off x="285750" y="3489722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 CALLS graph from API endpoint to database to identify all involved components</a:t>
            </a:r>
            <a:endParaRPr lang="en-US" sz="732" dirty="0"/>
          </a:p>
        </p:txBody>
      </p:sp>
      <p:sp>
        <p:nvSpPr>
          <p:cNvPr id="34" name="Shape 29"/>
          <p:cNvSpPr/>
          <p:nvPr/>
        </p:nvSpPr>
        <p:spPr>
          <a:xfrm>
            <a:off x="285750" y="3718322"/>
            <a:ext cx="4086225" cy="485775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71475" y="3807619"/>
            <a:ext cx="406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Process:</a:t>
            </a:r>
            <a:endParaRPr lang="en-US" sz="732" dirty="0"/>
          </a:p>
        </p:txBody>
      </p:sp>
      <p:sp>
        <p:nvSpPr>
          <p:cNvPr id="36" name="Text 31"/>
          <p:cNvSpPr/>
          <p:nvPr/>
        </p:nvSpPr>
        <p:spPr>
          <a:xfrm>
            <a:off x="778027" y="3807619"/>
            <a:ext cx="3230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Trace transaction paths → Identify services/modules/components → </a:t>
            </a:r>
            <a:endParaRPr lang="en-US" sz="732" dirty="0"/>
          </a:p>
        </p:txBody>
      </p:sp>
      <p:sp>
        <p:nvSpPr>
          <p:cNvPr id="37" name="Text 32"/>
          <p:cNvSpPr/>
          <p:nvPr/>
        </p:nvSpPr>
        <p:spPr>
          <a:xfrm>
            <a:off x="371475" y="3950494"/>
            <a:ext cx="26973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Suggest high-value scenarios → Scaffold integration tests </a:t>
            </a:r>
            <a:endParaRPr lang="en-US" sz="732" dirty="0"/>
          </a:p>
        </p:txBody>
      </p:sp>
      <p:sp>
        <p:nvSpPr>
          <p:cNvPr id="38" name="Text 33"/>
          <p:cNvSpPr/>
          <p:nvPr/>
        </p:nvSpPr>
        <p:spPr>
          <a:xfrm>
            <a:off x="285750" y="4230886"/>
            <a:ext cx="2939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Result:</a:t>
            </a:r>
            <a:endParaRPr lang="en-US" sz="628" dirty="0"/>
          </a:p>
        </p:txBody>
      </p:sp>
      <p:sp>
        <p:nvSpPr>
          <p:cNvPr id="39" name="Text 34"/>
          <p:cNvSpPr/>
          <p:nvPr/>
        </p:nvSpPr>
        <p:spPr>
          <a:xfrm>
            <a:off x="579704" y="4230886"/>
            <a:ext cx="29796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Verify correct interaction between components in multi-service workflows </a:t>
            </a:r>
            <a:endParaRPr lang="en-US" sz="628" dirty="0"/>
          </a:p>
        </p:txBody>
      </p:sp>
      <p:sp>
        <p:nvSpPr>
          <p:cNvPr id="40" name="Text 35"/>
          <p:cNvSpPr/>
          <p:nvPr/>
        </p:nvSpPr>
        <p:spPr>
          <a:xfrm>
            <a:off x="4657725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1046" dirty="0"/>
          </a:p>
        </p:txBody>
      </p:sp>
      <p:sp>
        <p:nvSpPr>
          <p:cNvPr id="41" name="Shape 36"/>
          <p:cNvSpPr/>
          <p:nvPr/>
        </p:nvSpPr>
        <p:spPr>
          <a:xfrm>
            <a:off x="4657725" y="1143000"/>
            <a:ext cx="4314825" cy="771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7"/>
          <p:cNvSpPr/>
          <p:nvPr/>
        </p:nvSpPr>
        <p:spPr>
          <a:xfrm>
            <a:off x="4657725" y="1143000"/>
            <a:ext cx="28575" cy="771525"/>
          </a:xfrm>
          <a:prstGeom prst="rect">
            <a:avLst/>
          </a:prstGeom>
          <a:solidFill>
            <a:srgbClr val="00A9E0"/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1293019"/>
            <a:ext cx="96441" cy="12858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954191" y="1257300"/>
            <a:ext cx="11264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Improved Quality</a:t>
            </a:r>
            <a:endParaRPr lang="en-US" sz="942" dirty="0"/>
          </a:p>
        </p:txBody>
      </p:sp>
      <p:sp>
        <p:nvSpPr>
          <p:cNvPr id="45" name="Text 39"/>
          <p:cNvSpPr/>
          <p:nvPr/>
        </p:nvSpPr>
        <p:spPr>
          <a:xfrm>
            <a:off x="4772025" y="1514475"/>
            <a:ext cx="4086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Detailed contextual information from KG enables more accurate and comprehensive test generation</a:t>
            </a:r>
            <a:endParaRPr lang="en-US" sz="732" dirty="0"/>
          </a:p>
        </p:txBody>
      </p:sp>
      <p:sp>
        <p:nvSpPr>
          <p:cNvPr id="46" name="Shape 40"/>
          <p:cNvSpPr/>
          <p:nvPr/>
        </p:nvSpPr>
        <p:spPr>
          <a:xfrm>
            <a:off x="4657725" y="2028825"/>
            <a:ext cx="4314825" cy="771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1"/>
          <p:cNvSpPr/>
          <p:nvPr/>
        </p:nvSpPr>
        <p:spPr>
          <a:xfrm>
            <a:off x="4657725" y="2028825"/>
            <a:ext cx="28575" cy="7715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2178844"/>
            <a:ext cx="128588" cy="12858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4986338" y="2143125"/>
            <a:ext cx="10408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Better Coverage</a:t>
            </a:r>
            <a:endParaRPr lang="en-US" sz="942" dirty="0"/>
          </a:p>
        </p:txBody>
      </p:sp>
      <p:sp>
        <p:nvSpPr>
          <p:cNvPr id="50" name="Text 43"/>
          <p:cNvSpPr/>
          <p:nvPr/>
        </p:nvSpPr>
        <p:spPr>
          <a:xfrm>
            <a:off x="4772025" y="2400300"/>
            <a:ext cx="4086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KG's complete dependency mapping ensures all critical paths and interactions are tested</a:t>
            </a:r>
            <a:endParaRPr lang="en-US" sz="732" dirty="0"/>
          </a:p>
        </p:txBody>
      </p:sp>
      <p:sp>
        <p:nvSpPr>
          <p:cNvPr id="51" name="Shape 44"/>
          <p:cNvSpPr/>
          <p:nvPr/>
        </p:nvSpPr>
        <p:spPr>
          <a:xfrm>
            <a:off x="4657725" y="2914650"/>
            <a:ext cx="4314825" cy="628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5"/>
          <p:cNvSpPr/>
          <p:nvPr/>
        </p:nvSpPr>
        <p:spPr>
          <a:xfrm>
            <a:off x="4657725" y="2914650"/>
            <a:ext cx="28575" cy="628650"/>
          </a:xfrm>
          <a:prstGeom prst="rect">
            <a:avLst/>
          </a:prstGeom>
          <a:solidFill>
            <a:srgbClr val="00559B"/>
          </a:solidFill>
          <a:ln/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3064669"/>
            <a:ext cx="160734" cy="12858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018484" y="3028950"/>
            <a:ext cx="13750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Efficiency</a:t>
            </a:r>
            <a:endParaRPr lang="en-US" sz="942" dirty="0"/>
          </a:p>
        </p:txBody>
      </p:sp>
      <p:sp>
        <p:nvSpPr>
          <p:cNvPr id="55" name="Text 47"/>
          <p:cNvSpPr/>
          <p:nvPr/>
        </p:nvSpPr>
        <p:spPr>
          <a:xfrm>
            <a:off x="4772025" y="32861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Reduces manual test writing effort while maintaining high-quality test standards</a:t>
            </a:r>
            <a:endParaRPr lang="en-US" sz="732" dirty="0"/>
          </a:p>
        </p:txBody>
      </p:sp>
      <p:sp>
        <p:nvSpPr>
          <p:cNvPr id="56" name="Shape 48"/>
          <p:cNvSpPr/>
          <p:nvPr/>
        </p:nvSpPr>
        <p:spPr>
          <a:xfrm>
            <a:off x="4657725" y="3657600"/>
            <a:ext cx="4314825" cy="122872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7" name="Shape 49"/>
          <p:cNvSpPr/>
          <p:nvPr/>
        </p:nvSpPr>
        <p:spPr>
          <a:xfrm>
            <a:off x="4657725" y="3657600"/>
            <a:ext cx="28575" cy="122872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8" name="Text 50"/>
          <p:cNvSpPr/>
          <p:nvPr/>
        </p:nvSpPr>
        <p:spPr>
          <a:xfrm>
            <a:off x="4772025" y="3771900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Foundation</a:t>
            </a:r>
            <a:endParaRPr lang="en-US" sz="837" dirty="0"/>
          </a:p>
        </p:txBody>
      </p:sp>
      <p:sp>
        <p:nvSpPr>
          <p:cNvPr id="59" name="Text 51"/>
          <p:cNvSpPr/>
          <p:nvPr/>
        </p:nvSpPr>
        <p:spPr>
          <a:xfrm>
            <a:off x="4772025" y="4032647"/>
            <a:ext cx="6294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Source:</a:t>
            </a:r>
            <a:endParaRPr lang="en-US" sz="732" dirty="0"/>
          </a:p>
        </p:txBody>
      </p:sp>
      <p:sp>
        <p:nvSpPr>
          <p:cNvPr id="60" name="Text 52"/>
          <p:cNvSpPr/>
          <p:nvPr/>
        </p:nvSpPr>
        <p:spPr>
          <a:xfrm>
            <a:off x="5427436" y="4032647"/>
            <a:ext cx="17135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Rich contextual information from KG</a:t>
            </a:r>
            <a:endParaRPr lang="en-US" sz="732" dirty="0"/>
          </a:p>
        </p:txBody>
      </p:sp>
      <p:sp>
        <p:nvSpPr>
          <p:cNvPr id="61" name="Text 53"/>
          <p:cNvSpPr/>
          <p:nvPr/>
        </p:nvSpPr>
        <p:spPr>
          <a:xfrm>
            <a:off x="4772025" y="4232672"/>
            <a:ext cx="7382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Integration:</a:t>
            </a:r>
            <a:endParaRPr lang="en-US" sz="732" dirty="0"/>
          </a:p>
        </p:txBody>
      </p:sp>
      <p:sp>
        <p:nvSpPr>
          <p:cNvPr id="62" name="Text 54"/>
          <p:cNvSpPr/>
          <p:nvPr/>
        </p:nvSpPr>
        <p:spPr>
          <a:xfrm>
            <a:off x="5536239" y="4232672"/>
            <a:ext cx="1988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LLM-powered test generation with context</a:t>
            </a:r>
            <a:endParaRPr lang="en-US" sz="732" dirty="0"/>
          </a:p>
        </p:txBody>
      </p:sp>
      <p:sp>
        <p:nvSpPr>
          <p:cNvPr id="63" name="Text 55"/>
          <p:cNvSpPr/>
          <p:nvPr/>
        </p:nvSpPr>
        <p:spPr>
          <a:xfrm>
            <a:off x="4772025" y="4432697"/>
            <a:ext cx="8763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Frameworks:</a:t>
            </a:r>
            <a:endParaRPr lang="en-US" sz="732" dirty="0"/>
          </a:p>
        </p:txBody>
      </p:sp>
      <p:sp>
        <p:nvSpPr>
          <p:cNvPr id="64" name="Text 56"/>
          <p:cNvSpPr/>
          <p:nvPr/>
        </p:nvSpPr>
        <p:spPr>
          <a:xfrm>
            <a:off x="5674370" y="4432697"/>
            <a:ext cx="15006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JUnit (Java), PyTest (Python), etc.</a:t>
            </a:r>
            <a:endParaRPr lang="en-US" sz="732" dirty="0"/>
          </a:p>
        </p:txBody>
      </p:sp>
      <p:sp>
        <p:nvSpPr>
          <p:cNvPr id="65" name="Text 57"/>
          <p:cNvSpPr/>
          <p:nvPr/>
        </p:nvSpPr>
        <p:spPr>
          <a:xfrm>
            <a:off x="4772025" y="4632722"/>
            <a:ext cx="8053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Coverage Types:</a:t>
            </a:r>
            <a:endParaRPr lang="en-US" sz="732" dirty="0"/>
          </a:p>
        </p:txBody>
      </p:sp>
      <p:sp>
        <p:nvSpPr>
          <p:cNvPr id="66" name="Text 58"/>
          <p:cNvSpPr/>
          <p:nvPr/>
        </p:nvSpPr>
        <p:spPr>
          <a:xfrm>
            <a:off x="5603351" y="4632722"/>
            <a:ext cx="15011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Unit tests, Integration scenarios</a:t>
            </a:r>
            <a:endParaRPr lang="en-US" sz="732" dirty="0"/>
          </a:p>
        </p:txBody>
      </p:sp>
      <p:sp>
        <p:nvSpPr>
          <p:cNvPr id="67" name="Shape 59"/>
          <p:cNvSpPr/>
          <p:nvPr/>
        </p:nvSpPr>
        <p:spPr>
          <a:xfrm>
            <a:off x="4657725" y="5000625"/>
            <a:ext cx="4314825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8" name="Shape 60"/>
          <p:cNvSpPr/>
          <p:nvPr/>
        </p:nvSpPr>
        <p:spPr>
          <a:xfrm>
            <a:off x="4657725" y="5000625"/>
            <a:ext cx="28575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9" name="Text 61"/>
          <p:cNvSpPr/>
          <p:nvPr/>
        </p:nvSpPr>
        <p:spPr>
          <a:xfrm>
            <a:off x="4743450" y="5089922"/>
            <a:ext cx="3841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Impact:</a:t>
            </a:r>
            <a:endParaRPr lang="en-US" sz="732" dirty="0"/>
          </a:p>
        </p:txBody>
      </p:sp>
      <p:sp>
        <p:nvSpPr>
          <p:cNvPr id="70" name="Text 62"/>
          <p:cNvSpPr/>
          <p:nvPr/>
        </p:nvSpPr>
        <p:spPr>
          <a:xfrm>
            <a:off x="5127622" y="5089922"/>
            <a:ext cx="31928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Transform testing from manual effort to AI-assisted, context-aware </a:t>
            </a:r>
            <a:endParaRPr lang="en-US" sz="732" dirty="0"/>
          </a:p>
        </p:txBody>
      </p:sp>
      <p:sp>
        <p:nvSpPr>
          <p:cNvPr id="71" name="Text 63"/>
          <p:cNvSpPr/>
          <p:nvPr/>
        </p:nvSpPr>
        <p:spPr>
          <a:xfrm>
            <a:off x="8320432" y="5089922"/>
            <a:ext cx="5483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automation</a:t>
            </a:r>
            <a:endParaRPr lang="en-US" sz="73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592509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4.3 Automating Project Management Workflows (Jira)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59250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Closed-Loop Feedback from Code Quality to Development Workflow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00100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Workflow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085850"/>
            <a:ext cx="43148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085850"/>
            <a:ext cx="28575" cy="657225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" y="1028700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" y="10287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28" dirty="0"/>
          </a:p>
        </p:txBody>
      </p:sp>
      <p:sp>
        <p:nvSpPr>
          <p:cNvPr id="11" name="Text 8"/>
          <p:cNvSpPr/>
          <p:nvPr/>
        </p:nvSpPr>
        <p:spPr>
          <a:xfrm>
            <a:off x="257175" y="117157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Trigger Event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257175" y="137160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Scheduled job or CI/CD step executes analytical query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257175" y="1543050"/>
            <a:ext cx="4143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scans, deprecated API detection, architectural checks</a:t>
            </a:r>
            <a:endParaRPr lang="en-US" sz="628" dirty="0"/>
          </a:p>
        </p:txBody>
      </p:sp>
      <p:sp>
        <p:nvSpPr>
          <p:cNvPr id="14" name="Shape 11"/>
          <p:cNvSpPr/>
          <p:nvPr/>
        </p:nvSpPr>
        <p:spPr>
          <a:xfrm>
            <a:off x="171450" y="1800225"/>
            <a:ext cx="4314825" cy="7643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71450" y="1800225"/>
            <a:ext cx="28575" cy="764381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6" name="Shape 13"/>
          <p:cNvSpPr/>
          <p:nvPr/>
        </p:nvSpPr>
        <p:spPr>
          <a:xfrm>
            <a:off x="114300" y="174307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" y="17430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628" dirty="0"/>
          </a:p>
        </p:txBody>
      </p:sp>
      <p:sp>
        <p:nvSpPr>
          <p:cNvPr id="18" name="Text 15"/>
          <p:cNvSpPr/>
          <p:nvPr/>
        </p:nvSpPr>
        <p:spPr>
          <a:xfrm>
            <a:off x="257175" y="188595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 Extraction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257175" y="2085975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Script extracts all relevant context from KG</a:t>
            </a:r>
            <a:endParaRPr lang="en-US" sz="732" dirty="0"/>
          </a:p>
        </p:txBody>
      </p:sp>
      <p:sp>
        <p:nvSpPr>
          <p:cNvPr id="20" name="Shape 17"/>
          <p:cNvSpPr/>
          <p:nvPr/>
        </p:nvSpPr>
        <p:spPr>
          <a:xfrm>
            <a:off x="257175" y="2257425"/>
            <a:ext cx="4143375" cy="20716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7175" y="2257425"/>
            <a:ext cx="4143375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File path, line number, function name, dependency chain, code owner </a:t>
            </a:r>
            <a:endParaRPr lang="en-US" sz="523" dirty="0"/>
          </a:p>
        </p:txBody>
      </p:sp>
      <p:sp>
        <p:nvSpPr>
          <p:cNvPr id="22" name="Shape 19"/>
          <p:cNvSpPr/>
          <p:nvPr/>
        </p:nvSpPr>
        <p:spPr>
          <a:xfrm>
            <a:off x="171450" y="2607469"/>
            <a:ext cx="4314825" cy="657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171450" y="2607469"/>
            <a:ext cx="28575" cy="657225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24" name="Shape 21"/>
          <p:cNvSpPr/>
          <p:nvPr/>
        </p:nvSpPr>
        <p:spPr>
          <a:xfrm>
            <a:off x="114300" y="2550319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5" name="Text 22"/>
          <p:cNvSpPr/>
          <p:nvPr/>
        </p:nvSpPr>
        <p:spPr>
          <a:xfrm>
            <a:off x="114300" y="25503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628" dirty="0"/>
          </a:p>
        </p:txBody>
      </p:sp>
      <p:sp>
        <p:nvSpPr>
          <p:cNvPr id="26" name="Text 23"/>
          <p:cNvSpPr/>
          <p:nvPr/>
        </p:nvSpPr>
        <p:spPr>
          <a:xfrm>
            <a:off x="257175" y="2693194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Jira API Integration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257175" y="2893219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 contextual data into JSON payload</a:t>
            </a:r>
            <a:endParaRPr lang="en-US" sz="732" dirty="0"/>
          </a:p>
        </p:txBody>
      </p:sp>
      <p:sp>
        <p:nvSpPr>
          <p:cNvPr id="28" name="Text 25"/>
          <p:cNvSpPr/>
          <p:nvPr/>
        </p:nvSpPr>
        <p:spPr>
          <a:xfrm>
            <a:off x="257175" y="3064669"/>
            <a:ext cx="4143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API call to Jira create issue endpoint</a:t>
            </a:r>
            <a:endParaRPr lang="en-US" sz="628" dirty="0"/>
          </a:p>
        </p:txBody>
      </p:sp>
      <p:sp>
        <p:nvSpPr>
          <p:cNvPr id="29" name="Shape 26"/>
          <p:cNvSpPr/>
          <p:nvPr/>
        </p:nvSpPr>
        <p:spPr>
          <a:xfrm>
            <a:off x="171450" y="3321844"/>
            <a:ext cx="4314825" cy="8715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171450" y="3321844"/>
            <a:ext cx="28575" cy="871538"/>
          </a:xfrm>
          <a:prstGeom prst="rect">
            <a:avLst/>
          </a:prstGeom>
          <a:solidFill>
            <a:srgbClr val="00559B"/>
          </a:solidFill>
          <a:ln/>
        </p:spPr>
      </p:sp>
      <p:sp>
        <p:nvSpPr>
          <p:cNvPr id="31" name="Shape 28"/>
          <p:cNvSpPr/>
          <p:nvPr/>
        </p:nvSpPr>
        <p:spPr>
          <a:xfrm>
            <a:off x="114300" y="3264694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2" name="Text 29"/>
          <p:cNvSpPr/>
          <p:nvPr/>
        </p:nvSpPr>
        <p:spPr>
          <a:xfrm>
            <a:off x="114300" y="32646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628" dirty="0"/>
          </a:p>
        </p:txBody>
      </p:sp>
      <p:sp>
        <p:nvSpPr>
          <p:cNvPr id="33" name="Text 30"/>
          <p:cNvSpPr/>
          <p:nvPr/>
        </p:nvSpPr>
        <p:spPr>
          <a:xfrm>
            <a:off x="257175" y="3407569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Ticket Creation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257175" y="3607594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Pre-populated Jira issue with complete information</a:t>
            </a:r>
            <a:endParaRPr lang="en-US" sz="732" dirty="0"/>
          </a:p>
        </p:txBody>
      </p:sp>
      <p:sp>
        <p:nvSpPr>
          <p:cNvPr id="35" name="Shape 32"/>
          <p:cNvSpPr/>
          <p:nvPr/>
        </p:nvSpPr>
        <p:spPr>
          <a:xfrm>
            <a:off x="257175" y="3779044"/>
            <a:ext cx="4143375" cy="314325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00038" y="3825478"/>
            <a:ext cx="171943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Title: "Critical SQL Injection in PaymentService.java"</a:t>
            </a:r>
            <a:endParaRPr lang="en-US" sz="523" dirty="0"/>
          </a:p>
        </p:txBody>
      </p:sp>
      <p:sp>
        <p:nvSpPr>
          <p:cNvPr id="37" name="Text 34"/>
          <p:cNvSpPr/>
          <p:nvPr/>
        </p:nvSpPr>
        <p:spPr>
          <a:xfrm>
            <a:off x="300038" y="3932634"/>
            <a:ext cx="176701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Auto-assigned to code owner with labels and priority </a:t>
            </a:r>
            <a:endParaRPr lang="en-US" sz="523" dirty="0"/>
          </a:p>
        </p:txBody>
      </p:sp>
      <p:sp>
        <p:nvSpPr>
          <p:cNvPr id="38" name="Text 35"/>
          <p:cNvSpPr/>
          <p:nvPr/>
        </p:nvSpPr>
        <p:spPr>
          <a:xfrm>
            <a:off x="4657725" y="800100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Dramatic Impact</a:t>
            </a:r>
            <a:endParaRPr lang="en-US" sz="1046" dirty="0"/>
          </a:p>
        </p:txBody>
      </p:sp>
      <p:sp>
        <p:nvSpPr>
          <p:cNvPr id="39" name="Shape 36"/>
          <p:cNvSpPr/>
          <p:nvPr/>
        </p:nvSpPr>
        <p:spPr>
          <a:xfrm>
            <a:off x="4657725" y="1085850"/>
            <a:ext cx="4314825" cy="742950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207294"/>
            <a:ext cx="144661" cy="12858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973836" y="1171575"/>
            <a:ext cx="16559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Shortened Feedback Loop</a:t>
            </a:r>
            <a:endParaRPr lang="en-US" sz="942" dirty="0"/>
          </a:p>
        </p:txBody>
      </p:sp>
      <p:sp>
        <p:nvSpPr>
          <p:cNvPr id="42" name="Text 38"/>
          <p:cNvSpPr/>
          <p:nvPr/>
        </p:nvSpPr>
        <p:spPr>
          <a:xfrm>
            <a:off x="4743450" y="1432322"/>
            <a:ext cx="3579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Before:</a:t>
            </a:r>
            <a:endParaRPr lang="en-US" sz="732" dirty="0"/>
          </a:p>
        </p:txBody>
      </p:sp>
      <p:sp>
        <p:nvSpPr>
          <p:cNvPr id="43" name="Text 39"/>
          <p:cNvSpPr/>
          <p:nvPr/>
        </p:nvSpPr>
        <p:spPr>
          <a:xfrm>
            <a:off x="5101419" y="1432322"/>
            <a:ext cx="14730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Hours/days discovery → action</a:t>
            </a:r>
            <a:endParaRPr lang="en-US" sz="732" dirty="0"/>
          </a:p>
        </p:txBody>
      </p:sp>
      <p:sp>
        <p:nvSpPr>
          <p:cNvPr id="44" name="Text 40"/>
          <p:cNvSpPr/>
          <p:nvPr/>
        </p:nvSpPr>
        <p:spPr>
          <a:xfrm>
            <a:off x="4743450" y="1575197"/>
            <a:ext cx="2841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After:</a:t>
            </a:r>
            <a:endParaRPr lang="en-US" sz="732" dirty="0"/>
          </a:p>
        </p:txBody>
      </p:sp>
      <p:sp>
        <p:nvSpPr>
          <p:cNvPr id="45" name="Text 41"/>
          <p:cNvSpPr/>
          <p:nvPr/>
        </p:nvSpPr>
        <p:spPr>
          <a:xfrm>
            <a:off x="5027609" y="1575197"/>
            <a:ext cx="15691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Seconds discovery → notification</a:t>
            </a:r>
            <a:endParaRPr lang="en-US" sz="732" dirty="0"/>
          </a:p>
        </p:txBody>
      </p:sp>
      <p:sp>
        <p:nvSpPr>
          <p:cNvPr id="46" name="Shape 42"/>
          <p:cNvSpPr/>
          <p:nvPr/>
        </p:nvSpPr>
        <p:spPr>
          <a:xfrm>
            <a:off x="4657725" y="1885950"/>
            <a:ext cx="4314825" cy="742950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2007394"/>
            <a:ext cx="160734" cy="128588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4989909" y="1971675"/>
            <a:ext cx="15909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Eliminated Manual Steps</a:t>
            </a:r>
            <a:endParaRPr lang="en-US" sz="942" dirty="0"/>
          </a:p>
        </p:txBody>
      </p:sp>
      <p:sp>
        <p:nvSpPr>
          <p:cNvPr id="49" name="Text 44"/>
          <p:cNvSpPr/>
          <p:nvPr/>
        </p:nvSpPr>
        <p:spPr>
          <a:xfrm>
            <a:off x="4743450" y="222885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EF44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❌ Manual discovery, context-switching, copy-paste</a:t>
            </a:r>
            <a:endParaRPr lang="en-US" sz="732" dirty="0"/>
          </a:p>
        </p:txBody>
      </p:sp>
      <p:sp>
        <p:nvSpPr>
          <p:cNvPr id="50" name="Text 45"/>
          <p:cNvSpPr/>
          <p:nvPr/>
        </p:nvSpPr>
        <p:spPr>
          <a:xfrm>
            <a:off x="4743450" y="2371725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✅ Fully automated workflow</a:t>
            </a:r>
            <a:endParaRPr lang="en-US" sz="732" dirty="0"/>
          </a:p>
        </p:txBody>
      </p:sp>
      <p:sp>
        <p:nvSpPr>
          <p:cNvPr id="51" name="Shape 46"/>
          <p:cNvSpPr/>
          <p:nvPr/>
        </p:nvSpPr>
        <p:spPr>
          <a:xfrm>
            <a:off x="4657725" y="2686050"/>
            <a:ext cx="4314825" cy="600075"/>
          </a:xfrm>
          <a:prstGeom prst="rect">
            <a:avLst/>
          </a:prstGeom>
          <a:solidFill>
            <a:srgbClr val="F0F8FF"/>
          </a:solidFill>
          <a:ln w="198">
            <a:solidFill>
              <a:srgbClr val="00A9E0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2807494"/>
            <a:ext cx="128588" cy="128588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4957763" y="2771775"/>
            <a:ext cx="21046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Systematic Quality Management</a:t>
            </a:r>
            <a:endParaRPr lang="en-US" sz="942" dirty="0"/>
          </a:p>
        </p:txBody>
      </p:sp>
      <p:sp>
        <p:nvSpPr>
          <p:cNvPr id="54" name="Text 48"/>
          <p:cNvSpPr/>
          <p:nvPr/>
        </p:nvSpPr>
        <p:spPr>
          <a:xfrm>
            <a:off x="4743450" y="302895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Critical issues never lost, transparent tracking, efficient technical debt management </a:t>
            </a:r>
            <a:endParaRPr lang="en-US" sz="732" dirty="0"/>
          </a:p>
        </p:txBody>
      </p:sp>
      <p:sp>
        <p:nvSpPr>
          <p:cNvPr id="55" name="Shape 49"/>
          <p:cNvSpPr/>
          <p:nvPr/>
        </p:nvSpPr>
        <p:spPr>
          <a:xfrm>
            <a:off x="4657725" y="3343275"/>
            <a:ext cx="4314825" cy="105727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6" name="Shape 50"/>
          <p:cNvSpPr/>
          <p:nvPr/>
        </p:nvSpPr>
        <p:spPr>
          <a:xfrm>
            <a:off x="4657725" y="3343275"/>
            <a:ext cx="28575" cy="105727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7" name="Text 51"/>
          <p:cNvSpPr/>
          <p:nvPr/>
        </p:nvSpPr>
        <p:spPr>
          <a:xfrm>
            <a:off x="4743450" y="342900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837" dirty="0"/>
          </a:p>
        </p:txBody>
      </p:sp>
      <p:sp>
        <p:nvSpPr>
          <p:cNvPr id="58" name="Text 52"/>
          <p:cNvSpPr/>
          <p:nvPr/>
        </p:nvSpPr>
        <p:spPr>
          <a:xfrm>
            <a:off x="4743450" y="365760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🔄 Closed-loop feedback from code to workflow</a:t>
            </a:r>
            <a:endParaRPr lang="en-US" sz="732" dirty="0"/>
          </a:p>
        </p:txBody>
      </p:sp>
      <p:sp>
        <p:nvSpPr>
          <p:cNvPr id="59" name="Text 53"/>
          <p:cNvSpPr/>
          <p:nvPr/>
        </p:nvSpPr>
        <p:spPr>
          <a:xfrm>
            <a:off x="4743450" y="382905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⚡ Real-time issue tracking and assignment</a:t>
            </a:r>
            <a:endParaRPr lang="en-US" sz="732" dirty="0"/>
          </a:p>
        </p:txBody>
      </p:sp>
      <p:sp>
        <p:nvSpPr>
          <p:cNvPr id="60" name="Text 54"/>
          <p:cNvSpPr/>
          <p:nvPr/>
        </p:nvSpPr>
        <p:spPr>
          <a:xfrm>
            <a:off x="4743450" y="400050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 Context-rich tickets with actionable information</a:t>
            </a:r>
            <a:endParaRPr lang="en-US" sz="732" dirty="0"/>
          </a:p>
        </p:txBody>
      </p:sp>
      <p:sp>
        <p:nvSpPr>
          <p:cNvPr id="61" name="Text 55"/>
          <p:cNvSpPr/>
          <p:nvPr/>
        </p:nvSpPr>
        <p:spPr>
          <a:xfrm>
            <a:off x="4743450" y="417195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🔒 Zero-loss critical issue management</a:t>
            </a:r>
            <a:endParaRPr lang="en-US" sz="73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43000" y="1216223"/>
            <a:ext cx="6858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spc="3" kern="0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V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1673423"/>
            <a:ext cx="68580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375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Synthesis and Technical Recommendations </a:t>
            </a:r>
            <a:endParaRPr lang="en-US" sz="3375" dirty="0"/>
          </a:p>
        </p:txBody>
      </p:sp>
      <p:sp>
        <p:nvSpPr>
          <p:cNvPr id="6" name="Text 3"/>
          <p:cNvSpPr/>
          <p:nvPr/>
        </p:nvSpPr>
        <p:spPr>
          <a:xfrm>
            <a:off x="1371600" y="3230761"/>
            <a:ext cx="640080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Providing comprehensive analysis of available tooling options, implementation strategies, and practical roadmaps for organizations looking to adopt knowledge graph-centric approaches to AI-assisted software engineering. </a:t>
            </a:r>
            <a:endParaRPr lang="en-US" sz="1046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65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70667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5.1 Comparative Analysis of Open Source and LLM-Based Tooling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70667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Modular, Flexible Ecosystem Centered on LLMs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Component Categories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4314825" cy="1435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143000"/>
            <a:ext cx="28575" cy="1435894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93019"/>
            <a:ext cx="128588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0063" y="1257300"/>
            <a:ext cx="202592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LLM Orchestration Frameworks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285750" y="1543050"/>
            <a:ext cx="4086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"brains" managing complex workflows between LLMs, data sources, and external tools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85750" y="1914525"/>
            <a:ext cx="4086225" cy="37861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2900" y="1971675"/>
            <a:ext cx="39719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0055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LangChain</a:t>
            </a:r>
            <a:endParaRPr lang="en-US" sz="628" dirty="0"/>
          </a:p>
        </p:txBody>
      </p:sp>
      <p:sp>
        <p:nvSpPr>
          <p:cNvPr id="14" name="Text 10"/>
          <p:cNvSpPr/>
          <p:nvPr/>
        </p:nvSpPr>
        <p:spPr>
          <a:xfrm>
            <a:off x="342900" y="2114550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6C757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support, extensive LLM integration, LangGraph for agentic systems</a:t>
            </a:r>
            <a:endParaRPr lang="en-US" sz="523" dirty="0"/>
          </a:p>
        </p:txBody>
      </p:sp>
      <p:sp>
        <p:nvSpPr>
          <p:cNvPr id="15" name="Text 11"/>
          <p:cNvSpPr/>
          <p:nvPr/>
        </p:nvSpPr>
        <p:spPr>
          <a:xfrm>
            <a:off x="285750" y="2334220"/>
            <a:ext cx="6205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Functions:</a:t>
            </a:r>
            <a:endParaRPr lang="en-US" sz="628" dirty="0"/>
          </a:p>
        </p:txBody>
      </p:sp>
      <p:sp>
        <p:nvSpPr>
          <p:cNvPr id="16" name="Text 12"/>
          <p:cNvSpPr/>
          <p:nvPr/>
        </p:nvSpPr>
        <p:spPr>
          <a:xfrm>
            <a:off x="906252" y="2334220"/>
            <a:ext cx="2485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Prompt management, chaining LLM calls, data preprocessing </a:t>
            </a:r>
            <a:endParaRPr lang="en-US" sz="628" dirty="0"/>
          </a:p>
        </p:txBody>
      </p:sp>
      <p:sp>
        <p:nvSpPr>
          <p:cNvPr id="17" name="Shape 13"/>
          <p:cNvSpPr/>
          <p:nvPr/>
        </p:nvSpPr>
        <p:spPr>
          <a:xfrm>
            <a:off x="171450" y="2678906"/>
            <a:ext cx="4314825" cy="17002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71450" y="2678906"/>
            <a:ext cx="28575" cy="1700213"/>
          </a:xfrm>
          <a:prstGeom prst="rect">
            <a:avLst/>
          </a:prstGeom>
          <a:solidFill>
            <a:srgbClr val="00A9E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828925"/>
            <a:ext cx="160734" cy="128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2209" y="2793206"/>
            <a:ext cx="13311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Multi-Agent Systems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285750" y="3078956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 AI agents collaborating to solve complex problems</a:t>
            </a:r>
            <a:endParaRPr lang="en-US" sz="732" dirty="0"/>
          </a:p>
        </p:txBody>
      </p:sp>
      <p:sp>
        <p:nvSpPr>
          <p:cNvPr id="22" name="Shape 17"/>
          <p:cNvSpPr/>
          <p:nvPr/>
        </p:nvSpPr>
        <p:spPr>
          <a:xfrm>
            <a:off x="285750" y="3307556"/>
            <a:ext cx="4086225" cy="37861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42900" y="3364706"/>
            <a:ext cx="39719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0055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crewAI</a:t>
            </a:r>
            <a:endParaRPr lang="en-US" sz="628" dirty="0"/>
          </a:p>
        </p:txBody>
      </p:sp>
      <p:sp>
        <p:nvSpPr>
          <p:cNvPr id="24" name="Text 19"/>
          <p:cNvSpPr/>
          <p:nvPr/>
        </p:nvSpPr>
        <p:spPr>
          <a:xfrm>
            <a:off x="342900" y="3507581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6C757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Role-based agent design, autonomous task delegation, hierarchical processes</a:t>
            </a:r>
            <a:endParaRPr lang="en-US" sz="523" dirty="0"/>
          </a:p>
        </p:txBody>
      </p:sp>
      <p:sp>
        <p:nvSpPr>
          <p:cNvPr id="25" name="Shape 20"/>
          <p:cNvSpPr/>
          <p:nvPr/>
        </p:nvSpPr>
        <p:spPr>
          <a:xfrm>
            <a:off x="285750" y="3700463"/>
            <a:ext cx="4086225" cy="37861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42900" y="3757613"/>
            <a:ext cx="39719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0055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AutoGen</a:t>
            </a:r>
            <a:endParaRPr lang="en-US" sz="628" dirty="0"/>
          </a:p>
        </p:txBody>
      </p:sp>
      <p:sp>
        <p:nvSpPr>
          <p:cNvPr id="27" name="Text 22"/>
          <p:cNvSpPr/>
          <p:nvPr/>
        </p:nvSpPr>
        <p:spPr>
          <a:xfrm>
            <a:off x="342900" y="3900488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6C757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Multi-agent conversation framework, local/Docker code executors</a:t>
            </a:r>
            <a:endParaRPr lang="en-US" sz="523" dirty="0"/>
          </a:p>
        </p:txBody>
      </p:sp>
      <p:sp>
        <p:nvSpPr>
          <p:cNvPr id="28" name="Text 23"/>
          <p:cNvSpPr/>
          <p:nvPr/>
        </p:nvSpPr>
        <p:spPr>
          <a:xfrm>
            <a:off x="285750" y="4120158"/>
            <a:ext cx="4044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Case:</a:t>
            </a:r>
            <a:endParaRPr lang="en-US" sz="628" dirty="0"/>
          </a:p>
        </p:txBody>
      </p:sp>
      <p:sp>
        <p:nvSpPr>
          <p:cNvPr id="29" name="Text 24"/>
          <p:cNvSpPr/>
          <p:nvPr/>
        </p:nvSpPr>
        <p:spPr>
          <a:xfrm>
            <a:off x="690209" y="4120158"/>
            <a:ext cx="23992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Coder Agent + Reviewer Agent + Tester Agent collaboration </a:t>
            </a:r>
            <a:endParaRPr lang="en-US" sz="628" dirty="0"/>
          </a:p>
        </p:txBody>
      </p:sp>
      <p:sp>
        <p:nvSpPr>
          <p:cNvPr id="30" name="Text 25"/>
          <p:cNvSpPr/>
          <p:nvPr/>
        </p:nvSpPr>
        <p:spPr>
          <a:xfrm>
            <a:off x="4657725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Specialized Tools</a:t>
            </a:r>
            <a:endParaRPr lang="en-US" sz="1046" dirty="0"/>
          </a:p>
        </p:txBody>
      </p:sp>
      <p:sp>
        <p:nvSpPr>
          <p:cNvPr id="31" name="Shape 26"/>
          <p:cNvSpPr/>
          <p:nvPr/>
        </p:nvSpPr>
        <p:spPr>
          <a:xfrm>
            <a:off x="4657725" y="1143000"/>
            <a:ext cx="4314825" cy="17002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7"/>
          <p:cNvSpPr/>
          <p:nvPr/>
        </p:nvSpPr>
        <p:spPr>
          <a:xfrm>
            <a:off x="4657725" y="1143000"/>
            <a:ext cx="28575" cy="1700213"/>
          </a:xfrm>
          <a:prstGeom prst="rect">
            <a:avLst/>
          </a:prstGeom>
          <a:solidFill>
            <a:srgbClr val="00A9E0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1293019"/>
            <a:ext cx="144661" cy="128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02411" y="1257300"/>
            <a:ext cx="15873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Code-to-Graph Analyzers</a:t>
            </a:r>
            <a:endParaRPr lang="en-US" sz="942" dirty="0"/>
          </a:p>
        </p:txBody>
      </p:sp>
      <p:sp>
        <p:nvSpPr>
          <p:cNvPr id="35" name="Text 29"/>
          <p:cNvSpPr/>
          <p:nvPr/>
        </p:nvSpPr>
        <p:spPr>
          <a:xfrm>
            <a:off x="4772025" y="1543050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Foundational layer parsing source code into structured, queryable knowledge graphs</a:t>
            </a:r>
            <a:endParaRPr lang="en-US" sz="732" dirty="0"/>
          </a:p>
        </p:txBody>
      </p:sp>
      <p:sp>
        <p:nvSpPr>
          <p:cNvPr id="36" name="Shape 30"/>
          <p:cNvSpPr/>
          <p:nvPr/>
        </p:nvSpPr>
        <p:spPr>
          <a:xfrm>
            <a:off x="4772025" y="1771650"/>
            <a:ext cx="4086225" cy="37861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829175" y="1828800"/>
            <a:ext cx="39719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0055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CodeGraph Analyzer</a:t>
            </a:r>
            <a:endParaRPr lang="en-US" sz="628" dirty="0"/>
          </a:p>
        </p:txBody>
      </p:sp>
      <p:sp>
        <p:nvSpPr>
          <p:cNvPr id="38" name="Text 32"/>
          <p:cNvSpPr/>
          <p:nvPr/>
        </p:nvSpPr>
        <p:spPr>
          <a:xfrm>
            <a:off x="4829175" y="1971675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6C757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Direct-to-Neo4j parsing, multi-language support (C++), MCP server for IDE integration</a:t>
            </a:r>
            <a:endParaRPr lang="en-US" sz="523" dirty="0"/>
          </a:p>
        </p:txBody>
      </p:sp>
      <p:sp>
        <p:nvSpPr>
          <p:cNvPr id="39" name="Shape 33"/>
          <p:cNvSpPr/>
          <p:nvPr/>
        </p:nvSpPr>
        <p:spPr>
          <a:xfrm>
            <a:off x="4772025" y="2164556"/>
            <a:ext cx="4086225" cy="37861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29175" y="2221706"/>
            <a:ext cx="39719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0055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Cntxt</a:t>
            </a:r>
            <a:endParaRPr lang="en-US" sz="628" dirty="0"/>
          </a:p>
        </p:txBody>
      </p:sp>
      <p:sp>
        <p:nvSpPr>
          <p:cNvPr id="41" name="Text 35"/>
          <p:cNvSpPr/>
          <p:nvPr/>
        </p:nvSpPr>
        <p:spPr>
          <a:xfrm>
            <a:off x="4829175" y="2364581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6C757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Token reduction (up to 75%), lightweight, generates concise KG file</a:t>
            </a:r>
            <a:endParaRPr lang="en-US" sz="523" dirty="0"/>
          </a:p>
        </p:txBody>
      </p:sp>
      <p:sp>
        <p:nvSpPr>
          <p:cNvPr id="42" name="Text 36"/>
          <p:cNvSpPr/>
          <p:nvPr/>
        </p:nvSpPr>
        <p:spPr>
          <a:xfrm>
            <a:off x="4772025" y="2584252"/>
            <a:ext cx="2174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Goal:</a:t>
            </a:r>
            <a:endParaRPr lang="en-US" sz="628" dirty="0"/>
          </a:p>
        </p:txBody>
      </p:sp>
      <p:sp>
        <p:nvSpPr>
          <p:cNvPr id="43" name="Text 37"/>
          <p:cNvSpPr/>
          <p:nvPr/>
        </p:nvSpPr>
        <p:spPr>
          <a:xfrm>
            <a:off x="4989519" y="2584252"/>
            <a:ext cx="201961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Reduce token usage vs. feeding raw code to LLMs </a:t>
            </a:r>
            <a:endParaRPr lang="en-US" sz="628" dirty="0"/>
          </a:p>
        </p:txBody>
      </p:sp>
      <p:sp>
        <p:nvSpPr>
          <p:cNvPr id="44" name="Shape 38"/>
          <p:cNvSpPr/>
          <p:nvPr/>
        </p:nvSpPr>
        <p:spPr>
          <a:xfrm>
            <a:off x="4657725" y="2928938"/>
            <a:ext cx="4314825" cy="1150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9"/>
          <p:cNvSpPr/>
          <p:nvPr/>
        </p:nvSpPr>
        <p:spPr>
          <a:xfrm>
            <a:off x="4657725" y="2928938"/>
            <a:ext cx="28575" cy="1150144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3078956"/>
            <a:ext cx="112514" cy="12858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4970264" y="3043238"/>
            <a:ext cx="172024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Frameworks for LLMs</a:t>
            </a:r>
            <a:endParaRPr lang="en-US" sz="942" dirty="0"/>
          </a:p>
        </p:txBody>
      </p:sp>
      <p:sp>
        <p:nvSpPr>
          <p:cNvPr id="48" name="Text 41"/>
          <p:cNvSpPr/>
          <p:nvPr/>
        </p:nvSpPr>
        <p:spPr>
          <a:xfrm>
            <a:off x="4772025" y="3328988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data ingestion and indexing for LLM applications</a:t>
            </a:r>
            <a:endParaRPr lang="en-US" sz="732" dirty="0"/>
          </a:p>
        </p:txBody>
      </p:sp>
      <p:sp>
        <p:nvSpPr>
          <p:cNvPr id="49" name="Shape 42"/>
          <p:cNvSpPr/>
          <p:nvPr/>
        </p:nvSpPr>
        <p:spPr>
          <a:xfrm>
            <a:off x="4772025" y="3557588"/>
            <a:ext cx="4086225" cy="378619"/>
          </a:xfrm>
          <a:prstGeom prst="rect">
            <a:avLst/>
          </a:prstGeom>
          <a:solidFill>
            <a:srgbClr val="F8F9FA"/>
          </a:solidFill>
          <a:ln w="99">
            <a:solidFill>
              <a:srgbClr val="E9ECEF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829175" y="3614738"/>
            <a:ext cx="39719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0055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LlamaIndex</a:t>
            </a:r>
            <a:endParaRPr lang="en-US" sz="628" dirty="0"/>
          </a:p>
        </p:txBody>
      </p:sp>
      <p:sp>
        <p:nvSpPr>
          <p:cNvPr id="51" name="Text 44"/>
          <p:cNvSpPr/>
          <p:nvPr/>
        </p:nvSpPr>
        <p:spPr>
          <a:xfrm>
            <a:off x="4829175" y="3757613"/>
            <a:ext cx="39719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dirty="0">
                <a:solidFill>
                  <a:srgbClr val="6C757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data ingestion and indexing, specialized for LLM data processing</a:t>
            </a:r>
            <a:endParaRPr lang="en-US" sz="523" dirty="0"/>
          </a:p>
        </p:txBody>
      </p:sp>
      <p:sp>
        <p:nvSpPr>
          <p:cNvPr id="52" name="Shape 45"/>
          <p:cNvSpPr/>
          <p:nvPr/>
        </p:nvSpPr>
        <p:spPr>
          <a:xfrm>
            <a:off x="4657725" y="4179094"/>
            <a:ext cx="4314825" cy="1371600"/>
          </a:xfrm>
          <a:prstGeom prst="rect">
            <a:avLst/>
          </a:prstGeom>
          <a:solidFill>
            <a:srgbClr val="F3E5F5"/>
          </a:solidFill>
          <a:ln w="198">
            <a:solidFill>
              <a:srgbClr val="00A9E0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772025" y="4293394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Ecosystem Characteristics</a:t>
            </a:r>
            <a:endParaRPr lang="en-US" sz="942" dirty="0"/>
          </a:p>
        </p:txBody>
      </p:sp>
      <p:sp>
        <p:nvSpPr>
          <p:cNvPr id="54" name="Text 47"/>
          <p:cNvSpPr/>
          <p:nvPr/>
        </p:nvSpPr>
        <p:spPr>
          <a:xfrm>
            <a:off x="4772025" y="4582716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55" name="Text 48"/>
          <p:cNvSpPr/>
          <p:nvPr/>
        </p:nvSpPr>
        <p:spPr>
          <a:xfrm>
            <a:off x="4835649" y="4582716"/>
            <a:ext cx="9608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 &amp; Flexible:</a:t>
            </a:r>
            <a:endParaRPr lang="en-US" sz="732" dirty="0"/>
          </a:p>
        </p:txBody>
      </p:sp>
      <p:sp>
        <p:nvSpPr>
          <p:cNvPr id="56" name="Text 49"/>
          <p:cNvSpPr/>
          <p:nvPr/>
        </p:nvSpPr>
        <p:spPr>
          <a:xfrm>
            <a:off x="5796483" y="4582716"/>
            <a:ext cx="16560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Unlike legacy monolithic platforms</a:t>
            </a:r>
            <a:endParaRPr lang="en-US" sz="732" dirty="0"/>
          </a:p>
        </p:txBody>
      </p:sp>
      <p:sp>
        <p:nvSpPr>
          <p:cNvPr id="57" name="Text 50"/>
          <p:cNvSpPr/>
          <p:nvPr/>
        </p:nvSpPr>
        <p:spPr>
          <a:xfrm>
            <a:off x="4772025" y="4754166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58" name="Text 51"/>
          <p:cNvSpPr/>
          <p:nvPr/>
        </p:nvSpPr>
        <p:spPr>
          <a:xfrm>
            <a:off x="4835649" y="4754166"/>
            <a:ext cx="7248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LLM-Centered:</a:t>
            </a:r>
            <a:endParaRPr lang="en-US" sz="732" dirty="0"/>
          </a:p>
        </p:txBody>
      </p:sp>
      <p:sp>
        <p:nvSpPr>
          <p:cNvPr id="59" name="Text 52"/>
          <p:cNvSpPr/>
          <p:nvPr/>
        </p:nvSpPr>
        <p:spPr>
          <a:xfrm>
            <a:off x="5560544" y="4754166"/>
            <a:ext cx="26937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Built around predictive power of Large Language Models</a:t>
            </a:r>
            <a:endParaRPr lang="en-US" sz="732" dirty="0"/>
          </a:p>
        </p:txBody>
      </p:sp>
      <p:sp>
        <p:nvSpPr>
          <p:cNvPr id="60" name="Text 53"/>
          <p:cNvSpPr/>
          <p:nvPr/>
        </p:nvSpPr>
        <p:spPr>
          <a:xfrm>
            <a:off x="4772025" y="4925616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61" name="Text 54"/>
          <p:cNvSpPr/>
          <p:nvPr/>
        </p:nvSpPr>
        <p:spPr>
          <a:xfrm>
            <a:off x="4835649" y="4925616"/>
            <a:ext cx="6588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Source:</a:t>
            </a:r>
            <a:endParaRPr lang="en-US" sz="732" dirty="0"/>
          </a:p>
        </p:txBody>
      </p:sp>
      <p:sp>
        <p:nvSpPr>
          <p:cNvPr id="62" name="Text 55"/>
          <p:cNvSpPr/>
          <p:nvPr/>
        </p:nvSpPr>
        <p:spPr>
          <a:xfrm>
            <a:off x="5494548" y="4925616"/>
            <a:ext cx="18993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Vibrant community-driven development</a:t>
            </a:r>
            <a:endParaRPr lang="en-US" sz="732" dirty="0"/>
          </a:p>
        </p:txBody>
      </p:sp>
      <p:sp>
        <p:nvSpPr>
          <p:cNvPr id="63" name="Text 56"/>
          <p:cNvSpPr/>
          <p:nvPr/>
        </p:nvSpPr>
        <p:spPr>
          <a:xfrm>
            <a:off x="4772025" y="5097066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64" name="Text 57"/>
          <p:cNvSpPr/>
          <p:nvPr/>
        </p:nvSpPr>
        <p:spPr>
          <a:xfrm>
            <a:off x="4835649" y="5097066"/>
            <a:ext cx="7200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Interoperable:</a:t>
            </a:r>
            <a:endParaRPr lang="en-US" sz="732" dirty="0"/>
          </a:p>
        </p:txBody>
      </p:sp>
      <p:sp>
        <p:nvSpPr>
          <p:cNvPr id="65" name="Text 58"/>
          <p:cNvSpPr/>
          <p:nvPr/>
        </p:nvSpPr>
        <p:spPr>
          <a:xfrm>
            <a:off x="5555745" y="5097066"/>
            <a:ext cx="1860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Components work together seamlessly</a:t>
            </a:r>
            <a:endParaRPr lang="en-US" sz="732" dirty="0"/>
          </a:p>
        </p:txBody>
      </p:sp>
      <p:sp>
        <p:nvSpPr>
          <p:cNvPr id="66" name="Text 59"/>
          <p:cNvSpPr/>
          <p:nvPr/>
        </p:nvSpPr>
        <p:spPr>
          <a:xfrm>
            <a:off x="4772025" y="5268516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67" name="Text 60"/>
          <p:cNvSpPr/>
          <p:nvPr/>
        </p:nvSpPr>
        <p:spPr>
          <a:xfrm>
            <a:off x="4835649" y="5268516"/>
            <a:ext cx="6355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Lightweight:</a:t>
            </a:r>
            <a:endParaRPr lang="en-US" sz="732" dirty="0"/>
          </a:p>
        </p:txBody>
      </p:sp>
      <p:sp>
        <p:nvSpPr>
          <p:cNvPr id="68" name="Text 61"/>
          <p:cNvSpPr/>
          <p:nvPr/>
        </p:nvSpPr>
        <p:spPr>
          <a:xfrm>
            <a:off x="5471247" y="5268516"/>
            <a:ext cx="20287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Focus on efficiency and token optimization</a:t>
            </a:r>
            <a:endParaRPr lang="en-US" sz="73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52744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5.2 Implementation Prerequisites and Roadmap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171450" y="457200"/>
            <a:ext cx="52744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Phased Approach to Knowledge Graph Adoption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8115300" y="325041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71450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Prerequisites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71450" y="1143000"/>
            <a:ext cx="431482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71450" y="1143000"/>
            <a:ext cx="28575" cy="1143000"/>
          </a:xfrm>
          <a:prstGeom prst="rect">
            <a:avLst/>
          </a:prstGeom>
          <a:solidFill>
            <a:srgbClr val="00559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93019"/>
            <a:ext cx="160734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2209" y="1257300"/>
            <a:ext cx="9642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Skills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285750" y="15144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Graph databases (Neo4j, Cypher)</a:t>
            </a:r>
            <a:endParaRPr lang="en-US" sz="732" dirty="0"/>
          </a:p>
        </p:txBody>
      </p:sp>
      <p:sp>
        <p:nvSpPr>
          <p:cNvPr id="12" name="Text 8"/>
          <p:cNvSpPr/>
          <p:nvPr/>
        </p:nvSpPr>
        <p:spPr>
          <a:xfrm>
            <a:off x="285750" y="16859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Data engineering (ETL pipelines)</a:t>
            </a:r>
            <a:endParaRPr lang="en-US" sz="732" dirty="0"/>
          </a:p>
        </p:txBody>
      </p:sp>
      <p:sp>
        <p:nvSpPr>
          <p:cNvPr id="13" name="Text 9"/>
          <p:cNvSpPr/>
          <p:nvPr/>
        </p:nvSpPr>
        <p:spPr>
          <a:xfrm>
            <a:off x="285750" y="18573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AI/ML (prompt engineering, LLM fine-tuning)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285750" y="20288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Text-to-Cypher translation</a:t>
            </a:r>
            <a:endParaRPr lang="en-US" sz="732" dirty="0"/>
          </a:p>
        </p:txBody>
      </p:sp>
      <p:sp>
        <p:nvSpPr>
          <p:cNvPr id="15" name="Shape 11"/>
          <p:cNvSpPr/>
          <p:nvPr/>
        </p:nvSpPr>
        <p:spPr>
          <a:xfrm>
            <a:off x="171450" y="2400300"/>
            <a:ext cx="431482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171450" y="2400300"/>
            <a:ext cx="28575" cy="1143000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550319"/>
            <a:ext cx="128588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0063" y="2514600"/>
            <a:ext cx="9185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Infrastructure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285750" y="27717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Scalable graph database instance</a:t>
            </a:r>
            <a:endParaRPr lang="en-US" sz="732" dirty="0"/>
          </a:p>
        </p:txBody>
      </p:sp>
      <p:sp>
        <p:nvSpPr>
          <p:cNvPr id="20" name="Text 15"/>
          <p:cNvSpPr/>
          <p:nvPr/>
        </p:nvSpPr>
        <p:spPr>
          <a:xfrm>
            <a:off x="285750" y="29432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LLM API access (commercial/self-hosted)</a:t>
            </a:r>
            <a:endParaRPr lang="en-US" sz="732" dirty="0"/>
          </a:p>
        </p:txBody>
      </p:sp>
      <p:sp>
        <p:nvSpPr>
          <p:cNvPr id="21" name="Text 16"/>
          <p:cNvSpPr/>
          <p:nvPr/>
        </p:nvSpPr>
        <p:spPr>
          <a:xfrm>
            <a:off x="285750" y="31146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Mature CI/CD pipeline infrastructure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285750" y="32861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Automated analysis and governance jobs</a:t>
            </a:r>
            <a:endParaRPr lang="en-US" sz="732" dirty="0"/>
          </a:p>
        </p:txBody>
      </p:sp>
      <p:sp>
        <p:nvSpPr>
          <p:cNvPr id="23" name="Shape 18"/>
          <p:cNvSpPr/>
          <p:nvPr/>
        </p:nvSpPr>
        <p:spPr>
          <a:xfrm>
            <a:off x="171450" y="3657600"/>
            <a:ext cx="431482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171450" y="3657600"/>
            <a:ext cx="28575" cy="1143000"/>
          </a:xfrm>
          <a:prstGeom prst="rect">
            <a:avLst/>
          </a:prstGeom>
          <a:solidFill>
            <a:srgbClr val="00A9E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807619"/>
            <a:ext cx="160734" cy="128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2209" y="3771900"/>
            <a:ext cx="8521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Cultural Shift</a:t>
            </a:r>
            <a:endParaRPr lang="en-US" sz="942" dirty="0"/>
          </a:p>
        </p:txBody>
      </p:sp>
      <p:sp>
        <p:nvSpPr>
          <p:cNvPr id="27" name="Text 21"/>
          <p:cNvSpPr/>
          <p:nvPr/>
        </p:nvSpPr>
        <p:spPr>
          <a:xfrm>
            <a:off x="285750" y="40290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"Docs as Code" mentality</a:t>
            </a:r>
            <a:endParaRPr lang="en-US" sz="732" dirty="0"/>
          </a:p>
        </p:txBody>
      </p:sp>
      <p:sp>
        <p:nvSpPr>
          <p:cNvPr id="28" name="Text 22"/>
          <p:cNvSpPr/>
          <p:nvPr/>
        </p:nvSpPr>
        <p:spPr>
          <a:xfrm>
            <a:off x="285750" y="42005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"Architecture as Code" approach</a:t>
            </a:r>
            <a:endParaRPr lang="en-US" sz="732" dirty="0"/>
          </a:p>
        </p:txBody>
      </p:sp>
      <p:sp>
        <p:nvSpPr>
          <p:cNvPr id="29" name="Text 23"/>
          <p:cNvSpPr/>
          <p:nvPr/>
        </p:nvSpPr>
        <p:spPr>
          <a:xfrm>
            <a:off x="285750" y="437197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Version-controlled artifacts</a:t>
            </a:r>
            <a:endParaRPr lang="en-US" sz="732" dirty="0"/>
          </a:p>
        </p:txBody>
      </p:sp>
      <p:sp>
        <p:nvSpPr>
          <p:cNvPr id="30" name="Text 24"/>
          <p:cNvSpPr/>
          <p:nvPr/>
        </p:nvSpPr>
        <p:spPr>
          <a:xfrm>
            <a:off x="285750" y="4543425"/>
            <a:ext cx="40862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Automated validation in CI/CD</a:t>
            </a:r>
            <a:endParaRPr lang="en-US" sz="732" dirty="0"/>
          </a:p>
        </p:txBody>
      </p:sp>
      <p:sp>
        <p:nvSpPr>
          <p:cNvPr id="31" name="Text 25"/>
          <p:cNvSpPr/>
          <p:nvPr/>
        </p:nvSpPr>
        <p:spPr>
          <a:xfrm>
            <a:off x="4657725" y="828675"/>
            <a:ext cx="43148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Phased Implementation Roadmap</a:t>
            </a:r>
            <a:endParaRPr lang="en-US" sz="1046" dirty="0"/>
          </a:p>
        </p:txBody>
      </p:sp>
      <p:sp>
        <p:nvSpPr>
          <p:cNvPr id="32" name="Shape 26"/>
          <p:cNvSpPr/>
          <p:nvPr/>
        </p:nvSpPr>
        <p:spPr>
          <a:xfrm>
            <a:off x="4657725" y="1143000"/>
            <a:ext cx="4314825" cy="685800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743450" y="105727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34" name="Text 28"/>
          <p:cNvSpPr/>
          <p:nvPr/>
        </p:nvSpPr>
        <p:spPr>
          <a:xfrm>
            <a:off x="4743450" y="10572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28" dirty="0"/>
          </a:p>
        </p:txBody>
      </p:sp>
      <p:sp>
        <p:nvSpPr>
          <p:cNvPr id="35" name="Text 29"/>
          <p:cNvSpPr/>
          <p:nvPr/>
        </p:nvSpPr>
        <p:spPr>
          <a:xfrm>
            <a:off x="4743450" y="122872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Assessment &amp; Proof of Concept</a:t>
            </a:r>
            <a:endParaRPr lang="en-US" sz="837" dirty="0"/>
          </a:p>
        </p:txBody>
      </p:sp>
      <p:sp>
        <p:nvSpPr>
          <p:cNvPr id="36" name="Text 30"/>
          <p:cNvSpPr/>
          <p:nvPr/>
        </p:nvSpPr>
        <p:spPr>
          <a:xfrm>
            <a:off x="4743450" y="142875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Single legacy application analysis, first Code KG</a:t>
            </a:r>
            <a:endParaRPr lang="en-US" sz="732" dirty="0"/>
          </a:p>
        </p:txBody>
      </p:sp>
      <p:sp>
        <p:nvSpPr>
          <p:cNvPr id="37" name="Text 31"/>
          <p:cNvSpPr/>
          <p:nvPr/>
        </p:nvSpPr>
        <p:spPr>
          <a:xfrm>
            <a:off x="4743450" y="1598414"/>
            <a:ext cx="2174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Goal:</a:t>
            </a:r>
            <a:endParaRPr lang="en-US" sz="628" dirty="0"/>
          </a:p>
        </p:txBody>
      </p:sp>
      <p:sp>
        <p:nvSpPr>
          <p:cNvPr id="38" name="Text 32"/>
          <p:cNvSpPr/>
          <p:nvPr/>
        </p:nvSpPr>
        <p:spPr>
          <a:xfrm>
            <a:off x="4960944" y="1598414"/>
            <a:ext cx="26612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Demonstrate value with arc42 docs &amp; technical debt identification</a:t>
            </a:r>
            <a:endParaRPr lang="en-US" sz="628" dirty="0"/>
          </a:p>
        </p:txBody>
      </p:sp>
      <p:sp>
        <p:nvSpPr>
          <p:cNvPr id="39" name="Shape 33"/>
          <p:cNvSpPr/>
          <p:nvPr/>
        </p:nvSpPr>
        <p:spPr>
          <a:xfrm>
            <a:off x="4657725" y="1885950"/>
            <a:ext cx="4314825" cy="685800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743450" y="180022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41" name="Text 35"/>
          <p:cNvSpPr/>
          <p:nvPr/>
        </p:nvSpPr>
        <p:spPr>
          <a:xfrm>
            <a:off x="4743450" y="18002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628" dirty="0"/>
          </a:p>
        </p:txBody>
      </p:sp>
      <p:sp>
        <p:nvSpPr>
          <p:cNvPr id="42" name="Text 36"/>
          <p:cNvSpPr/>
          <p:nvPr/>
        </p:nvSpPr>
        <p:spPr>
          <a:xfrm>
            <a:off x="4743450" y="197167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&amp; Governance</a:t>
            </a:r>
            <a:endParaRPr lang="en-US" sz="837" dirty="0"/>
          </a:p>
        </p:txBody>
      </p:sp>
      <p:sp>
        <p:nvSpPr>
          <p:cNvPr id="43" name="Text 37"/>
          <p:cNvSpPr/>
          <p:nvPr/>
        </p:nvSpPr>
        <p:spPr>
          <a:xfrm>
            <a:off x="4743450" y="217170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Greenfield project pilot, CI/CD integration</a:t>
            </a:r>
            <a:endParaRPr lang="en-US" sz="732" dirty="0"/>
          </a:p>
        </p:txBody>
      </p:sp>
      <p:sp>
        <p:nvSpPr>
          <p:cNvPr id="44" name="Text 38"/>
          <p:cNvSpPr/>
          <p:nvPr/>
        </p:nvSpPr>
        <p:spPr>
          <a:xfrm>
            <a:off x="4743450" y="2341364"/>
            <a:ext cx="2174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Goal:</a:t>
            </a:r>
            <a:endParaRPr lang="en-US" sz="628" dirty="0"/>
          </a:p>
        </p:txBody>
      </p:sp>
      <p:sp>
        <p:nvSpPr>
          <p:cNvPr id="45" name="Text 39"/>
          <p:cNvSpPr/>
          <p:nvPr/>
        </p:nvSpPr>
        <p:spPr>
          <a:xfrm>
            <a:off x="4960944" y="2341364"/>
            <a:ext cx="25754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Prove KG value in preventing technical debt &amp; architectural drift</a:t>
            </a:r>
            <a:endParaRPr lang="en-US" sz="628" dirty="0"/>
          </a:p>
        </p:txBody>
      </p:sp>
      <p:sp>
        <p:nvSpPr>
          <p:cNvPr id="46" name="Shape 40"/>
          <p:cNvSpPr/>
          <p:nvPr/>
        </p:nvSpPr>
        <p:spPr>
          <a:xfrm>
            <a:off x="4657725" y="2628900"/>
            <a:ext cx="4314825" cy="685800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743450" y="254317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48" name="Text 42"/>
          <p:cNvSpPr/>
          <p:nvPr/>
        </p:nvSpPr>
        <p:spPr>
          <a:xfrm>
            <a:off x="4743450" y="25431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628" dirty="0"/>
          </a:p>
        </p:txBody>
      </p:sp>
      <p:sp>
        <p:nvSpPr>
          <p:cNvPr id="49" name="Text 43"/>
          <p:cNvSpPr/>
          <p:nvPr/>
        </p:nvSpPr>
        <p:spPr>
          <a:xfrm>
            <a:off x="4743450" y="271462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Automation &amp; Workflow</a:t>
            </a:r>
            <a:endParaRPr lang="en-US" sz="837" dirty="0"/>
          </a:p>
        </p:txBody>
      </p:sp>
      <p:sp>
        <p:nvSpPr>
          <p:cNvPr id="50" name="Text 44"/>
          <p:cNvSpPr/>
          <p:nvPr/>
        </p:nvSpPr>
        <p:spPr>
          <a:xfrm>
            <a:off x="4743450" y="291465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artifact generation, Jira integration</a:t>
            </a:r>
            <a:endParaRPr lang="en-US" sz="732" dirty="0"/>
          </a:p>
        </p:txBody>
      </p:sp>
      <p:sp>
        <p:nvSpPr>
          <p:cNvPr id="51" name="Text 45"/>
          <p:cNvSpPr/>
          <p:nvPr/>
        </p:nvSpPr>
        <p:spPr>
          <a:xfrm>
            <a:off x="4743450" y="3084314"/>
            <a:ext cx="2174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Goal:</a:t>
            </a:r>
            <a:endParaRPr lang="en-US" sz="628" dirty="0"/>
          </a:p>
        </p:txBody>
      </p:sp>
      <p:sp>
        <p:nvSpPr>
          <p:cNvPr id="52" name="Text 46"/>
          <p:cNvSpPr/>
          <p:nvPr/>
        </p:nvSpPr>
        <p:spPr>
          <a:xfrm>
            <a:off x="4960944" y="3084314"/>
            <a:ext cx="263487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Improve developer workflow &amp; reduce mean time to remediation</a:t>
            </a:r>
            <a:endParaRPr lang="en-US" sz="628" dirty="0"/>
          </a:p>
        </p:txBody>
      </p:sp>
      <p:sp>
        <p:nvSpPr>
          <p:cNvPr id="53" name="Shape 47"/>
          <p:cNvSpPr/>
          <p:nvPr/>
        </p:nvSpPr>
        <p:spPr>
          <a:xfrm>
            <a:off x="4657725" y="3371850"/>
            <a:ext cx="4314825" cy="685800"/>
          </a:xfrm>
          <a:prstGeom prst="rect">
            <a:avLst/>
          </a:prstGeom>
          <a:solidFill>
            <a:srgbClr val="E9ECEF"/>
          </a:solidFill>
          <a:ln w="198">
            <a:solidFill>
              <a:srgbClr val="F47B20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4743450" y="3286125"/>
            <a:ext cx="171450" cy="1714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5" name="Text 49"/>
          <p:cNvSpPr/>
          <p:nvPr/>
        </p:nvSpPr>
        <p:spPr>
          <a:xfrm>
            <a:off x="4743450" y="32861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628" dirty="0"/>
          </a:p>
        </p:txBody>
      </p:sp>
      <p:sp>
        <p:nvSpPr>
          <p:cNvPr id="56" name="Text 50"/>
          <p:cNvSpPr/>
          <p:nvPr/>
        </p:nvSpPr>
        <p:spPr>
          <a:xfrm>
            <a:off x="4743450" y="3457575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Scale &amp; Enterprise Adoption</a:t>
            </a:r>
            <a:endParaRPr lang="en-US" sz="837" dirty="0"/>
          </a:p>
        </p:txBody>
      </p:sp>
      <p:sp>
        <p:nvSpPr>
          <p:cNvPr id="57" name="Text 51"/>
          <p:cNvSpPr/>
          <p:nvPr/>
        </p:nvSpPr>
        <p:spPr>
          <a:xfrm>
            <a:off x="4743450" y="3657600"/>
            <a:ext cx="4143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Multi-team rollout, center of excellence</a:t>
            </a:r>
            <a:endParaRPr lang="en-US" sz="732" dirty="0"/>
          </a:p>
        </p:txBody>
      </p:sp>
      <p:sp>
        <p:nvSpPr>
          <p:cNvPr id="58" name="Text 52"/>
          <p:cNvSpPr/>
          <p:nvPr/>
        </p:nvSpPr>
        <p:spPr>
          <a:xfrm>
            <a:off x="4743450" y="3827264"/>
            <a:ext cx="2174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Goal:</a:t>
            </a:r>
            <a:endParaRPr lang="en-US" sz="628" dirty="0"/>
          </a:p>
        </p:txBody>
      </p:sp>
      <p:sp>
        <p:nvSpPr>
          <p:cNvPr id="59" name="Text 53"/>
          <p:cNvSpPr/>
          <p:nvPr/>
        </p:nvSpPr>
        <p:spPr>
          <a:xfrm>
            <a:off x="4960944" y="3827264"/>
            <a:ext cx="26705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Unified enterprise knowledge graph for strategic decision-making</a:t>
            </a:r>
            <a:endParaRPr lang="en-US" sz="628" dirty="0"/>
          </a:p>
        </p:txBody>
      </p:sp>
      <p:sp>
        <p:nvSpPr>
          <p:cNvPr id="60" name="Shape 54"/>
          <p:cNvSpPr/>
          <p:nvPr/>
        </p:nvSpPr>
        <p:spPr>
          <a:xfrm>
            <a:off x="4657725" y="4114800"/>
            <a:ext cx="4314825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1" name="Shape 55"/>
          <p:cNvSpPr/>
          <p:nvPr/>
        </p:nvSpPr>
        <p:spPr>
          <a:xfrm>
            <a:off x="4657725" y="4114800"/>
            <a:ext cx="28575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2" name="Text 56"/>
          <p:cNvSpPr/>
          <p:nvPr/>
        </p:nvSpPr>
        <p:spPr>
          <a:xfrm>
            <a:off x="4743450" y="4204097"/>
            <a:ext cx="6741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Principle:</a:t>
            </a:r>
            <a:endParaRPr lang="en-US" sz="732" dirty="0"/>
          </a:p>
        </p:txBody>
      </p:sp>
      <p:sp>
        <p:nvSpPr>
          <p:cNvPr id="63" name="Text 57"/>
          <p:cNvSpPr/>
          <p:nvPr/>
        </p:nvSpPr>
        <p:spPr>
          <a:xfrm>
            <a:off x="5417641" y="4204097"/>
            <a:ext cx="32798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Gradual, phased approach to build expertise, demonstrate value, and </a:t>
            </a:r>
            <a:endParaRPr lang="en-US" sz="732" dirty="0"/>
          </a:p>
        </p:txBody>
      </p:sp>
      <p:sp>
        <p:nvSpPr>
          <p:cNvPr id="64" name="Text 58"/>
          <p:cNvSpPr/>
          <p:nvPr/>
        </p:nvSpPr>
        <p:spPr>
          <a:xfrm>
            <a:off x="4743450" y="4346972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65F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mitigate risk</a:t>
            </a:r>
            <a:endParaRPr lang="en-US" sz="73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935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693569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058150" y="228600"/>
            <a:ext cx="857250" cy="1785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" y="578644"/>
            <a:ext cx="86868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Future of AI-Assisted Software Engineering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371600" y="1235869"/>
            <a:ext cx="6400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Transforming software development through intelligent knowledge graphs and AI-powered automation 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228600" y="1864519"/>
            <a:ext cx="4257675" cy="771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864519"/>
            <a:ext cx="28575" cy="7715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14538"/>
            <a:ext cx="144661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3286" y="1978819"/>
            <a:ext cx="19076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Graph Foundation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342900" y="2235994"/>
            <a:ext cx="4029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 codebases into queryable, living knowledge graphs that serve as digital twins of software systems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28600" y="2750344"/>
            <a:ext cx="4257675" cy="771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228600" y="2750344"/>
            <a:ext cx="28575" cy="7715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900363"/>
            <a:ext cx="160734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9359" y="2864644"/>
            <a:ext cx="13864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Toolchain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342900" y="3121819"/>
            <a:ext cx="4029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 LLMs with graph databases through RAG patterns for accurate, context-aware software intelligence</a:t>
            </a:r>
            <a:endParaRPr lang="en-US" sz="732" dirty="0"/>
          </a:p>
        </p:txBody>
      </p:sp>
      <p:sp>
        <p:nvSpPr>
          <p:cNvPr id="17" name="Shape 12"/>
          <p:cNvSpPr/>
          <p:nvPr/>
        </p:nvSpPr>
        <p:spPr>
          <a:xfrm>
            <a:off x="228600" y="3636169"/>
            <a:ext cx="4257675" cy="771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228600" y="3636169"/>
            <a:ext cx="28575" cy="7715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3786188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7213" y="3750469"/>
            <a:ext cx="14202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Legacy Modernization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342900" y="4007644"/>
            <a:ext cx="4029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Systematic reverse engineering and fact extraction enable data-driven modernization strategies</a:t>
            </a:r>
            <a:endParaRPr lang="en-US" sz="732" dirty="0"/>
          </a:p>
        </p:txBody>
      </p:sp>
      <p:sp>
        <p:nvSpPr>
          <p:cNvPr id="22" name="Shape 16"/>
          <p:cNvSpPr/>
          <p:nvPr/>
        </p:nvSpPr>
        <p:spPr>
          <a:xfrm>
            <a:off x="4657725" y="1864519"/>
            <a:ext cx="4257675" cy="771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657725" y="1864519"/>
            <a:ext cx="28575" cy="7715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2014538"/>
            <a:ext cx="160734" cy="128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18484" y="1978819"/>
            <a:ext cx="13145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Artifacts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4772025" y="2235994"/>
            <a:ext cx="4029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 documentation, test cases, and project management workflows automatically from knowledge graphs</a:t>
            </a:r>
            <a:endParaRPr lang="en-US" sz="732" dirty="0"/>
          </a:p>
        </p:txBody>
      </p:sp>
      <p:sp>
        <p:nvSpPr>
          <p:cNvPr id="27" name="Shape 20"/>
          <p:cNvSpPr/>
          <p:nvPr/>
        </p:nvSpPr>
        <p:spPr>
          <a:xfrm>
            <a:off x="4657725" y="2750344"/>
            <a:ext cx="4257675" cy="771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1"/>
          <p:cNvSpPr/>
          <p:nvPr/>
        </p:nvSpPr>
        <p:spPr>
          <a:xfrm>
            <a:off x="4657725" y="2750344"/>
            <a:ext cx="28575" cy="7715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2900363"/>
            <a:ext cx="144661" cy="128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002411" y="2864644"/>
            <a:ext cx="15498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Phased Implementation</a:t>
            </a:r>
            <a:endParaRPr lang="en-US" sz="942" dirty="0"/>
          </a:p>
        </p:txBody>
      </p:sp>
      <p:sp>
        <p:nvSpPr>
          <p:cNvPr id="31" name="Text 23"/>
          <p:cNvSpPr/>
          <p:nvPr/>
        </p:nvSpPr>
        <p:spPr>
          <a:xfrm>
            <a:off x="4772025" y="3121819"/>
            <a:ext cx="4029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4-phase roadmap from proof of concept to enterprise-scale adoption with clear prerequisites and milestones</a:t>
            </a:r>
            <a:endParaRPr lang="en-US" sz="732" dirty="0"/>
          </a:p>
        </p:txBody>
      </p:sp>
      <p:sp>
        <p:nvSpPr>
          <p:cNvPr id="32" name="Shape 24"/>
          <p:cNvSpPr/>
          <p:nvPr/>
        </p:nvSpPr>
        <p:spPr>
          <a:xfrm>
            <a:off x="4657725" y="3636169"/>
            <a:ext cx="4257675" cy="771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5"/>
          <p:cNvSpPr/>
          <p:nvPr/>
        </p:nvSpPr>
        <p:spPr>
          <a:xfrm>
            <a:off x="4657725" y="3636169"/>
            <a:ext cx="28575" cy="771525"/>
          </a:xfrm>
          <a:prstGeom prst="rect">
            <a:avLst/>
          </a:prstGeom>
          <a:solidFill>
            <a:srgbClr val="F47B20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3786188"/>
            <a:ext cx="128588" cy="128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86338" y="3750469"/>
            <a:ext cx="12441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Measurable Impact</a:t>
            </a:r>
            <a:endParaRPr lang="en-US" sz="942" dirty="0"/>
          </a:p>
        </p:txBody>
      </p:sp>
      <p:sp>
        <p:nvSpPr>
          <p:cNvPr id="36" name="Text 27"/>
          <p:cNvSpPr/>
          <p:nvPr/>
        </p:nvSpPr>
        <p:spPr>
          <a:xfrm>
            <a:off x="4772025" y="4007644"/>
            <a:ext cx="4029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 efficiency gains: 60% accuracy improvement, 6 weeks to 2 weeks analysis time, 60,000 person-days saved</a:t>
            </a:r>
            <a:endParaRPr lang="en-US" sz="732" dirty="0"/>
          </a:p>
        </p:txBody>
      </p:sp>
      <p:sp>
        <p:nvSpPr>
          <p:cNvPr id="37" name="Text 28"/>
          <p:cNvSpPr/>
          <p:nvPr/>
        </p:nvSpPr>
        <p:spPr>
          <a:xfrm>
            <a:off x="1934728" y="4807744"/>
            <a:ext cx="52745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Ready to Transform Your Software Engineering?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934728" y="5093494"/>
            <a:ext cx="52745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with a single legacy application and build your knowledge graph foundation today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2025-07-30T22:34:57Z</dcterms:created>
  <dcterms:modified xsi:type="dcterms:W3CDTF">2025-07-30T22:34:57Z</dcterms:modified>
</cp:coreProperties>
</file>